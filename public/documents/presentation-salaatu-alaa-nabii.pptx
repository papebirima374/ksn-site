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82F22"/>
                </a:solidFill>
                <a:latin typeface="Cambria"/>
              </a:defRPr>
            </a:pPr>
            <a:r>
              <a:rPr sz="1400" b="0" i="0" u="none" strike="noStrike">
                <a:solidFill>
                  <a:srgbClr val="082F22"/>
                </a:solidFill>
                <a:latin typeface="Cambria"/>
              </a:rPr>
              <a:t>Répartition des dépenses, en milliers de FCFA</a:t>
            </a:r>
          </a:p>
        </c:rich>
      </c:tx>
      <c:layout/>
      <c:overlay val="0"/>
    </c:title>
    <c:autoTitleDeleted val="0"/>
    <c:plotArea>
      <c:layout/>
      <c:barChart>
        <c:barDir val="bar"/>
        <c:grouping val="clustered"/>
        <c:varyColors val="0"/>
        <c:ser>
          <c:idx val="0"/>
          <c:order val="0"/>
          <c:tx>
            <c:strRef>
              <c:f>Sheet1!$B$1</c:f>
              <c:strCache>
                <c:ptCount val="1"/>
                <c:pt idx="0">
                  <c:v>Milliers de FCFA</c:v>
                </c:pt>
              </c:strCache>
            </c:strRef>
          </c:tx>
          <c:spPr>
            <a:solidFill>
              <a:srgbClr val="0F7C55"/>
            </a:solidFill>
            <a:effectLst/>
          </c:spPr>
          <c:invertIfNegative val="0"/>
          <c:dLbls>
            <c:numFmt formatCode="0" sourceLinked="0"/>
            <c:txPr>
              <a:bodyPr/>
              <a:lstStyle/>
              <a:p>
                <a:pPr>
                  <a:defRPr b="0" i="0" strike="noStrike" sz="1000" u="none">
                    <a:solidFill>
                      <a:srgbClr val="4A443C"/>
                    </a:solidFill>
                    <a:latin typeface="Calibri"/>
                  </a:defRPr>
                </a:pPr>
              </a:p>
            </c:txPr>
            <c:showLegendKey val="0"/>
            <c:showVal val="1"/>
            <c:showCatName val="0"/>
            <c:showSerName val="0"/>
            <c:showPercent val="0"/>
            <c:showBubbleSize val="0"/>
            <c:showLeaderLines val="0"/>
          </c:dLbls>
          <c:cat>
            <c:multiLvlStrRef>
              <c:f>Sheet1!$A$2:$A$8</c:f>
              <c:multiLvlStrCache>
                <c:ptCount val="7"/>
                <c:lvl>
                  <c:pt idx="0">
                    <c:v>Marge d'ajustement</c:v>
                  </c:pt>
                  <c:pt idx="1">
                    <c:v>Communication</c:v>
                  </c:pt>
                  <c:pt idx="2">
                    <c:v>Son et lumière</c:v>
                  </c:pt>
                  <c:pt idx="3">
                    <c:v>Préparation</c:v>
                  </c:pt>
                  <c:pt idx="4">
                    <c:v>Tournage / matériel</c:v>
                  </c:pt>
                  <c:pt idx="5">
                    <c:v>Déplacements</c:v>
                  </c:pt>
                  <c:pt idx="6">
                    <c:v>Montage</c:v>
                  </c:pt>
                </c:lvl>
              </c:multiLvlStrCache>
            </c:multiLvlStrRef>
          </c:cat>
          <c:val>
            <c:numRef>
              <c:f>Sheet1!$B$2:$B$8</c:f>
              <c:numCache>
                <c:formatCode>General</c:formatCode>
                <c:ptCount val="7"/>
                <c:pt idx="0">
                  <c:v>10</c:v>
                </c:pt>
                <c:pt idx="1">
                  <c:v>20</c:v>
                </c:pt>
                <c:pt idx="2">
                  <c:v>50</c:v>
                </c:pt>
                <c:pt idx="3">
                  <c:v>50</c:v>
                </c:pt>
                <c:pt idx="4">
                  <c:v>120</c:v>
                </c:pt>
                <c:pt idx="5">
                  <c:v>120</c:v>
                </c:pt>
                <c:pt idx="6">
                  <c:v>150</c:v>
                </c:pt>
              </c:numCache>
            </c:numRef>
          </c:val>
        </c:ser>
        <c:dLbls>
          <c:numFmt formatCode="0" sourceLinked="0"/>
          <c:txPr>
            <a:bodyPr/>
            <a:lstStyle/>
            <a:p>
              <a:pPr>
                <a:defRPr b="0" i="0" strike="noStrike" sz="1000" u="none">
                  <a:solidFill>
                    <a:srgbClr val="4A443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443C"/>
                </a:solidFill>
                <a:latin typeface="Calibri"/>
              </a:defRPr>
            </a:pPr>
            <a:endParaRPr lang="en-US"/>
          </a:p>
        </c:txPr>
        <c:crossAx val="2094734552"/>
        <c:crosses val="autoZero"/>
        <c:auto val="1"/>
        <c:lblAlgn val="ctr"/>
        <c:noMultiLvlLbl val="1"/>
      </c:catAx>
      <c:valAx>
        <c:axId val="2094734552"/>
        <c:scaling>
          <c:orientation val="minMax"/>
          <c:max val="175"/>
        </c:scaling>
        <c:delete val="0"/>
        <c:axPos val="b"/>
        <c:majorGridlines>
          <c:spPr>
            <a:ln w="12700" cap="flat">
              <a:solidFill>
                <a:srgbClr val="EDE4D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C74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en rappelant que la Journée existe déjà : ce que nous proposons, c'est d'en garder une trace qui dépasse le cercle des présents.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planche à laisser affichée si l'on ne dispose que de deux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fait que les trois registres se répondent : la doctrine, le vécu, le 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20 000 FCFA d'écart entre 520 000 et 500 000 correspondent à la communication et à la marge, pris en charge par la Dahira.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F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10048" y="566928"/>
            <a:ext cx="1371600" cy="1371600"/>
          </a:xfrm>
          <a:prstGeom prst="rect">
            <a:avLst/>
          </a:prstGeom>
        </p:spPr>
      </p:pic>
      <p:sp>
        <p:nvSpPr>
          <p:cNvPr id="3" name="Text 0"/>
          <p:cNvSpPr txBox="1"/>
          <p:nvPr/>
        </p:nvSpPr>
        <p:spPr>
          <a:xfrm>
            <a:off x="0" y="2157984"/>
            <a:ext cx="12191695" cy="274320"/>
          </a:xfrm>
          <a:prstGeom prst="rect">
            <a:avLst/>
          </a:prstGeom>
          <a:noFill/>
          <a:ln/>
        </p:spPr>
        <p:txBody>
          <a:bodyPr wrap="square" lIns="0" tIns="0" rIns="0" bIns="0" rtlCol="0" anchor="ctr"/>
          <a:lstStyle/>
          <a:p>
            <a:pPr algn="ctr" indent="0" marL="0">
              <a:buNone/>
            </a:pPr>
            <a:r>
              <a:rPr lang="en-US" sz="1200" b="1" spc="300" kern="0" dirty="0">
                <a:solidFill>
                  <a:srgbClr val="E8D9A6"/>
                </a:solidFill>
                <a:latin typeface="Calibri" pitchFamily="34" charset="0"/>
                <a:ea typeface="Calibri" pitchFamily="34" charset="-122"/>
                <a:cs typeface="Calibri" pitchFamily="34" charset="-120"/>
              </a:rPr>
              <a:t>DOSSIER DE PRODUCTION &amp; DE PARTENARIAT</a:t>
            </a:r>
            <a:endParaRPr lang="en-US" sz="1200" dirty="0"/>
          </a:p>
        </p:txBody>
      </p:sp>
      <p:sp>
        <p:nvSpPr>
          <p:cNvPr id="4" name="Text 1"/>
          <p:cNvSpPr txBox="1"/>
          <p:nvPr/>
        </p:nvSpPr>
        <p:spPr>
          <a:xfrm>
            <a:off x="0" y="2468880"/>
            <a:ext cx="12191695"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Salaatu ʿAlaa Nabii</a:t>
            </a:r>
            <a:endParaRPr lang="en-US" sz="5400" dirty="0"/>
          </a:p>
        </p:txBody>
      </p:sp>
      <p:sp>
        <p:nvSpPr>
          <p:cNvPr id="5" name="Text 2"/>
          <p:cNvSpPr txBox="1"/>
          <p:nvPr/>
        </p:nvSpPr>
        <p:spPr>
          <a:xfrm>
            <a:off x="0" y="3401568"/>
            <a:ext cx="12191695" cy="274320"/>
          </a:xfrm>
          <a:prstGeom prst="rect">
            <a:avLst/>
          </a:prstGeom>
          <a:noFill/>
          <a:ln/>
        </p:spPr>
        <p:txBody>
          <a:bodyPr wrap="square" lIns="0" tIns="0" rIns="0" bIns="0" rtlCol="0" anchor="ctr"/>
          <a:lstStyle/>
          <a:p>
            <a:pPr algn="ctr" indent="0" marL="0">
              <a:buNone/>
            </a:pPr>
            <a:r>
              <a:rPr lang="en-US" sz="1250" spc="400" kern="0" dirty="0">
                <a:solidFill>
                  <a:srgbClr val="D4AF37"/>
                </a:solidFill>
                <a:latin typeface="Calibri" pitchFamily="34" charset="0"/>
                <a:ea typeface="Calibri" pitchFamily="34" charset="-122"/>
                <a:cs typeface="Calibri" pitchFamily="34" charset="-120"/>
              </a:rPr>
              <a:t>DOCUMENTAIRE · REPORTAGE</a:t>
            </a:r>
            <a:endParaRPr lang="en-US" sz="1250" dirty="0"/>
          </a:p>
        </p:txBody>
      </p:sp>
      <p:sp>
        <p:nvSpPr>
          <p:cNvPr id="6" name="Text 3"/>
          <p:cNvSpPr txBox="1"/>
          <p:nvPr/>
        </p:nvSpPr>
        <p:spPr>
          <a:xfrm>
            <a:off x="1828800" y="3913632"/>
            <a:ext cx="8534095" cy="731520"/>
          </a:xfrm>
          <a:prstGeom prst="rect">
            <a:avLst/>
          </a:prstGeom>
          <a:noFill/>
          <a:ln/>
        </p:spPr>
        <p:txBody>
          <a:bodyPr wrap="square" lIns="0" tIns="0" rIns="0" bIns="0" rtlCol="0" anchor="ctr"/>
          <a:lstStyle/>
          <a:p>
            <a:pPr algn="ctr" indent="0" marL="0">
              <a:lnSpc>
                <a:spcPct val="130000"/>
              </a:lnSpc>
              <a:buNone/>
            </a:pPr>
            <a:r>
              <a:rPr lang="en-US" sz="1400" dirty="0">
                <a:solidFill>
                  <a:srgbClr val="CFE0D4"/>
                </a:solidFill>
                <a:latin typeface="Calibri" pitchFamily="34" charset="0"/>
                <a:ea typeface="Calibri" pitchFamily="34" charset="-122"/>
                <a:cs typeface="Calibri" pitchFamily="34" charset="-120"/>
              </a:rPr>
              <a:t>Un regard sur la place, la signification et la pratique de la prière sur le Prophète,</a:t>
            </a:r>
            <a:endParaRPr lang="en-US" sz="1400" dirty="0"/>
          </a:p>
          <a:p>
            <a:pPr algn="ctr" indent="0" marL="0">
              <a:lnSpc>
                <a:spcPct val="130000"/>
              </a:lnSpc>
              <a:buNone/>
            </a:pPr>
            <a:r>
              <a:rPr lang="en-US" sz="1400" dirty="0">
                <a:solidFill>
                  <a:srgbClr val="CFE0D4"/>
                </a:solidFill>
                <a:latin typeface="Calibri" pitchFamily="34" charset="0"/>
                <a:ea typeface="Calibri" pitchFamily="34" charset="-122"/>
                <a:cs typeface="Calibri" pitchFamily="34" charset="-120"/>
              </a:rPr>
              <a:t>à travers la parole des guides religieux et les témoignages des fidèles.</a:t>
            </a:r>
            <a:endParaRPr lang="en-US" sz="1400" dirty="0"/>
          </a:p>
        </p:txBody>
      </p:sp>
      <p:sp>
        <p:nvSpPr>
          <p:cNvPr id="7" name="Shape 4"/>
          <p:cNvSpPr/>
          <p:nvPr/>
        </p:nvSpPr>
        <p:spPr>
          <a:xfrm>
            <a:off x="1258672" y="4892040"/>
            <a:ext cx="3017520" cy="786384"/>
          </a:xfrm>
          <a:prstGeom prst="roundRect">
            <a:avLst>
              <a:gd name="adj" fmla="val 11628"/>
            </a:avLst>
          </a:prstGeom>
          <a:solidFill>
            <a:srgbClr val="082F22"/>
          </a:solidFill>
          <a:ln w="12700">
            <a:solidFill>
              <a:srgbClr val="3E5A48"/>
            </a:solidFill>
            <a:prstDash val="solid"/>
          </a:ln>
        </p:spPr>
      </p:sp>
      <p:sp>
        <p:nvSpPr>
          <p:cNvPr id="8" name="Text 5"/>
          <p:cNvSpPr txBox="1"/>
          <p:nvPr/>
        </p:nvSpPr>
        <p:spPr>
          <a:xfrm>
            <a:off x="1258672"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26 DÉCEMBRE 2026</a:t>
            </a:r>
            <a:endParaRPr lang="en-US" sz="1600" dirty="0"/>
          </a:p>
        </p:txBody>
      </p:sp>
      <p:sp>
        <p:nvSpPr>
          <p:cNvPr id="9" name="Text 6"/>
          <p:cNvSpPr txBox="1"/>
          <p:nvPr/>
        </p:nvSpPr>
        <p:spPr>
          <a:xfrm>
            <a:off x="1258672"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Journée à Touba</a:t>
            </a:r>
            <a:endParaRPr lang="en-US" sz="1100" dirty="0"/>
          </a:p>
        </p:txBody>
      </p:sp>
      <p:sp>
        <p:nvSpPr>
          <p:cNvPr id="10" name="Shape 7"/>
          <p:cNvSpPr/>
          <p:nvPr/>
        </p:nvSpPr>
        <p:spPr>
          <a:xfrm>
            <a:off x="4587088" y="4892040"/>
            <a:ext cx="3017520" cy="786384"/>
          </a:xfrm>
          <a:prstGeom prst="roundRect">
            <a:avLst>
              <a:gd name="adj" fmla="val 11628"/>
            </a:avLst>
          </a:prstGeom>
          <a:solidFill>
            <a:srgbClr val="082F22"/>
          </a:solidFill>
          <a:ln w="12700">
            <a:solidFill>
              <a:srgbClr val="3E5A48"/>
            </a:solidFill>
            <a:prstDash val="solid"/>
          </a:ln>
        </p:spPr>
      </p:sp>
      <p:sp>
        <p:nvSpPr>
          <p:cNvPr id="11" name="Text 8"/>
          <p:cNvSpPr txBox="1"/>
          <p:nvPr/>
        </p:nvSpPr>
        <p:spPr>
          <a:xfrm>
            <a:off x="4587088"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520 000 FCFA</a:t>
            </a:r>
            <a:endParaRPr lang="en-US" sz="1600" dirty="0"/>
          </a:p>
        </p:txBody>
      </p:sp>
      <p:sp>
        <p:nvSpPr>
          <p:cNvPr id="12" name="Text 9"/>
          <p:cNvSpPr txBox="1"/>
          <p:nvPr/>
        </p:nvSpPr>
        <p:spPr>
          <a:xfrm>
            <a:off x="4587088"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Budget prévisionnel</a:t>
            </a:r>
            <a:endParaRPr lang="en-US" sz="1100" dirty="0"/>
          </a:p>
        </p:txBody>
      </p:sp>
      <p:sp>
        <p:nvSpPr>
          <p:cNvPr id="13" name="Shape 10"/>
          <p:cNvSpPr/>
          <p:nvPr/>
        </p:nvSpPr>
        <p:spPr>
          <a:xfrm>
            <a:off x="7915504" y="4892040"/>
            <a:ext cx="3017520" cy="786384"/>
          </a:xfrm>
          <a:prstGeom prst="roundRect">
            <a:avLst>
              <a:gd name="adj" fmla="val 11628"/>
            </a:avLst>
          </a:prstGeom>
          <a:solidFill>
            <a:srgbClr val="082F22"/>
          </a:solidFill>
          <a:ln w="12700">
            <a:solidFill>
              <a:srgbClr val="3E5A48"/>
            </a:solidFill>
            <a:prstDash val="solid"/>
          </a:ln>
        </p:spPr>
      </p:sp>
      <p:sp>
        <p:nvSpPr>
          <p:cNvPr id="14" name="Text 11"/>
          <p:cNvSpPr txBox="1"/>
          <p:nvPr/>
        </p:nvSpPr>
        <p:spPr>
          <a:xfrm>
            <a:off x="7915504" y="4992624"/>
            <a:ext cx="3017520" cy="292608"/>
          </a:xfrm>
          <a:prstGeom prst="rect">
            <a:avLst/>
          </a:prstGeom>
          <a:noFill/>
          <a:ln/>
        </p:spPr>
        <p:txBody>
          <a:bodyPr wrap="square" lIns="0" tIns="0" rIns="0" bIns="0" rtlCol="0" anchor="ctr"/>
          <a:lstStyle/>
          <a:p>
            <a:pPr algn="ctr" indent="0" marL="0">
              <a:buNone/>
            </a:pPr>
            <a:r>
              <a:rPr lang="en-US" sz="1600" b="1" dirty="0">
                <a:solidFill>
                  <a:srgbClr val="D4AF37"/>
                </a:solidFill>
                <a:latin typeface="Cambria" pitchFamily="34" charset="0"/>
                <a:ea typeface="Cambria" pitchFamily="34" charset="-122"/>
                <a:cs typeface="Cambria" pitchFamily="34" charset="-120"/>
              </a:rPr>
              <a:t>500 000 FCFA</a:t>
            </a:r>
            <a:endParaRPr lang="en-US" sz="1600" dirty="0"/>
          </a:p>
        </p:txBody>
      </p:sp>
      <p:sp>
        <p:nvSpPr>
          <p:cNvPr id="15" name="Text 12"/>
          <p:cNvSpPr txBox="1"/>
          <p:nvPr/>
        </p:nvSpPr>
        <p:spPr>
          <a:xfrm>
            <a:off x="7915504" y="5294376"/>
            <a:ext cx="3017520" cy="256032"/>
          </a:xfrm>
          <a:prstGeom prst="rect">
            <a:avLst/>
          </a:prstGeom>
          <a:noFill/>
          <a:ln/>
        </p:spPr>
        <p:txBody>
          <a:bodyPr wrap="square" lIns="0" tIns="0" rIns="0" bIns="0" rtlCol="0" anchor="ctr"/>
          <a:lstStyle/>
          <a:p>
            <a:pPr algn="ctr" indent="0" marL="0">
              <a:buNone/>
            </a:pPr>
            <a:r>
              <a:rPr lang="en-US" sz="1100" dirty="0">
                <a:solidFill>
                  <a:srgbClr val="A8BFAF"/>
                </a:solidFill>
                <a:latin typeface="Calibri" pitchFamily="34" charset="0"/>
                <a:ea typeface="Calibri" pitchFamily="34" charset="-122"/>
                <a:cs typeface="Calibri" pitchFamily="34" charset="-120"/>
              </a:rPr>
              <a:t>Financement recherché</a:t>
            </a:r>
            <a:endParaRPr lang="en-US" sz="1100" dirty="0"/>
          </a:p>
        </p:txBody>
      </p:sp>
      <p:sp>
        <p:nvSpPr>
          <p:cNvPr id="16" name="Text 13"/>
          <p:cNvSpPr txBox="1"/>
          <p:nvPr/>
        </p:nvSpPr>
        <p:spPr>
          <a:xfrm>
            <a:off x="0" y="6053328"/>
            <a:ext cx="12191695" cy="274320"/>
          </a:xfrm>
          <a:prstGeom prst="rect">
            <a:avLst/>
          </a:prstGeom>
          <a:noFill/>
          <a:ln/>
        </p:spPr>
        <p:txBody>
          <a:bodyPr wrap="square" lIns="0" tIns="0" rIns="0" bIns="0" rtlCol="0" anchor="ctr"/>
          <a:lstStyle/>
          <a:p>
            <a:pPr algn="ctr" indent="0" marL="0">
              <a:buNone/>
            </a:pPr>
            <a:r>
              <a:rPr lang="en-US" sz="1200" dirty="0">
                <a:solidFill>
                  <a:srgbClr val="8FA697"/>
                </a:solidFill>
                <a:latin typeface="Calibri" pitchFamily="34" charset="0"/>
                <a:ea typeface="Calibri" pitchFamily="34" charset="-122"/>
                <a:cs typeface="Calibri" pitchFamily="34" charset="-120"/>
              </a:rPr>
              <a:t>Porteur du projet : Birima Gueye     ·     Réalisation : Khadim Fall — Cosmos Studio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L'ESSENTIEL</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Le projet en cinq lignes</a:t>
            </a:r>
            <a:endParaRPr lang="en-US" sz="3800" dirty="0"/>
          </a:p>
        </p:txBody>
      </p:sp>
      <p:sp>
        <p:nvSpPr>
          <p:cNvPr id="4" name="Text 2"/>
          <p:cNvSpPr txBox="1"/>
          <p:nvPr/>
        </p:nvSpPr>
        <p:spPr>
          <a:xfrm>
            <a:off x="685800" y="1572768"/>
            <a:ext cx="10820095" cy="914400"/>
          </a:xfrm>
          <a:prstGeom prst="rect">
            <a:avLst/>
          </a:prstGeom>
          <a:noFill/>
          <a:ln/>
        </p:spPr>
        <p:txBody>
          <a:bodyPr wrap="square" lIns="0" tIns="0" rIns="0" bIns="0" rtlCol="0" anchor="ctr"/>
          <a:lstStyle/>
          <a:p>
            <a:pPr indent="0" marL="0">
              <a:lnSpc>
                <a:spcPct val="125000"/>
              </a:lnSpc>
              <a:buNone/>
            </a:pPr>
            <a:r>
              <a:rPr lang="en-US" sz="1500" dirty="0">
                <a:solidFill>
                  <a:srgbClr val="4A443C"/>
                </a:solidFill>
                <a:latin typeface="Calibri" pitchFamily="34" charset="0"/>
                <a:ea typeface="Calibri" pitchFamily="34" charset="-122"/>
                <a:cs typeface="Calibri" pitchFamily="34" charset="-120"/>
              </a:rPr>
              <a:t>Chaque année, la Dahira Kippaangog Salaatu ʿAlaa Nabii réunit guides religieux et fidèles pour une journée entière consacrée à la prière sur le Prophète. L'édition du 26 décembre 2026, à Touba, servira de point de départ à un documentaire qui ira ensuite à la rencontre des guides et des fidèles, dans plusieurs villes, pour recueillir leurs enseignements et leurs témoignages.</a:t>
            </a:r>
            <a:endParaRPr lang="en-US" sz="1500" dirty="0"/>
          </a:p>
        </p:txBody>
      </p:sp>
      <p:sp>
        <p:nvSpPr>
          <p:cNvPr id="5" name="Shape 3"/>
          <p:cNvSpPr/>
          <p:nvPr/>
        </p:nvSpPr>
        <p:spPr>
          <a:xfrm>
            <a:off x="685800" y="2743200"/>
            <a:ext cx="2615184" cy="1316736"/>
          </a:xfrm>
          <a:prstGeom prst="roundRect">
            <a:avLst>
              <a:gd name="adj" fmla="val 4167"/>
            </a:avLst>
          </a:prstGeom>
          <a:solidFill>
            <a:srgbClr val="F3EDE0"/>
          </a:solidFill>
          <a:ln w="12700">
            <a:solidFill>
              <a:srgbClr val="E6DCC4"/>
            </a:solidFill>
            <a:prstDash val="solid"/>
          </a:ln>
        </p:spPr>
      </p:sp>
      <p:sp>
        <p:nvSpPr>
          <p:cNvPr id="6" name="Text 4"/>
          <p:cNvSpPr txBox="1"/>
          <p:nvPr/>
        </p:nvSpPr>
        <p:spPr>
          <a:xfrm>
            <a:off x="685800"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26 déc. 2026</a:t>
            </a:r>
            <a:endParaRPr lang="en-US" sz="2600" dirty="0"/>
          </a:p>
        </p:txBody>
      </p:sp>
      <p:sp>
        <p:nvSpPr>
          <p:cNvPr id="7" name="Text 5"/>
          <p:cNvSpPr txBox="1"/>
          <p:nvPr/>
        </p:nvSpPr>
        <p:spPr>
          <a:xfrm>
            <a:off x="832104"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Journée à Touba</a:t>
            </a:r>
            <a:endParaRPr lang="en-US" sz="1150" dirty="0"/>
          </a:p>
        </p:txBody>
      </p:sp>
      <p:sp>
        <p:nvSpPr>
          <p:cNvPr id="8" name="Shape 6"/>
          <p:cNvSpPr/>
          <p:nvPr/>
        </p:nvSpPr>
        <p:spPr>
          <a:xfrm>
            <a:off x="3557016" y="2743200"/>
            <a:ext cx="2615184" cy="1316736"/>
          </a:xfrm>
          <a:prstGeom prst="roundRect">
            <a:avLst>
              <a:gd name="adj" fmla="val 4167"/>
            </a:avLst>
          </a:prstGeom>
          <a:solidFill>
            <a:srgbClr val="F3EDE0"/>
          </a:solidFill>
          <a:ln w="12700">
            <a:solidFill>
              <a:srgbClr val="E6DCC4"/>
            </a:solidFill>
            <a:prstDash val="solid"/>
          </a:ln>
        </p:spPr>
      </p:sp>
      <p:sp>
        <p:nvSpPr>
          <p:cNvPr id="9" name="Text 7"/>
          <p:cNvSpPr txBox="1"/>
          <p:nvPr/>
        </p:nvSpPr>
        <p:spPr>
          <a:xfrm>
            <a:off x="3557016"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520 000</a:t>
            </a:r>
            <a:endParaRPr lang="en-US" sz="2600" dirty="0"/>
          </a:p>
        </p:txBody>
      </p:sp>
      <p:sp>
        <p:nvSpPr>
          <p:cNvPr id="10" name="Text 8"/>
          <p:cNvSpPr txBox="1"/>
          <p:nvPr/>
        </p:nvSpPr>
        <p:spPr>
          <a:xfrm>
            <a:off x="3703320"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Budget total, en FCFA</a:t>
            </a:r>
            <a:endParaRPr lang="en-US" sz="1150" dirty="0"/>
          </a:p>
        </p:txBody>
      </p:sp>
      <p:sp>
        <p:nvSpPr>
          <p:cNvPr id="11" name="Shape 9"/>
          <p:cNvSpPr/>
          <p:nvPr/>
        </p:nvSpPr>
        <p:spPr>
          <a:xfrm>
            <a:off x="6428232" y="2743200"/>
            <a:ext cx="2615184" cy="1316736"/>
          </a:xfrm>
          <a:prstGeom prst="roundRect">
            <a:avLst>
              <a:gd name="adj" fmla="val 4167"/>
            </a:avLst>
          </a:prstGeom>
          <a:solidFill>
            <a:srgbClr val="F3EDE0"/>
          </a:solidFill>
          <a:ln w="12700">
            <a:solidFill>
              <a:srgbClr val="E6DCC4"/>
            </a:solidFill>
            <a:prstDash val="solid"/>
          </a:ln>
        </p:spPr>
      </p:sp>
      <p:sp>
        <p:nvSpPr>
          <p:cNvPr id="12" name="Text 10"/>
          <p:cNvSpPr txBox="1"/>
          <p:nvPr/>
        </p:nvSpPr>
        <p:spPr>
          <a:xfrm>
            <a:off x="6428232"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500 000</a:t>
            </a:r>
            <a:endParaRPr lang="en-US" sz="2600" dirty="0"/>
          </a:p>
        </p:txBody>
      </p:sp>
      <p:sp>
        <p:nvSpPr>
          <p:cNvPr id="13" name="Text 11"/>
          <p:cNvSpPr txBox="1"/>
          <p:nvPr/>
        </p:nvSpPr>
        <p:spPr>
          <a:xfrm>
            <a:off x="6574536"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Recherchés, en FCFA</a:t>
            </a:r>
            <a:endParaRPr lang="en-US" sz="1150" dirty="0"/>
          </a:p>
        </p:txBody>
      </p:sp>
      <p:sp>
        <p:nvSpPr>
          <p:cNvPr id="14" name="Shape 12"/>
          <p:cNvSpPr/>
          <p:nvPr/>
        </p:nvSpPr>
        <p:spPr>
          <a:xfrm>
            <a:off x="9299448" y="2743200"/>
            <a:ext cx="2615184" cy="1316736"/>
          </a:xfrm>
          <a:prstGeom prst="roundRect">
            <a:avLst>
              <a:gd name="adj" fmla="val 4167"/>
            </a:avLst>
          </a:prstGeom>
          <a:solidFill>
            <a:srgbClr val="F3EDE0"/>
          </a:solidFill>
          <a:ln w="12700">
            <a:solidFill>
              <a:srgbClr val="E6DCC4"/>
            </a:solidFill>
            <a:prstDash val="solid"/>
          </a:ln>
        </p:spPr>
      </p:sp>
      <p:sp>
        <p:nvSpPr>
          <p:cNvPr id="15" name="Text 13"/>
          <p:cNvSpPr txBox="1"/>
          <p:nvPr/>
        </p:nvSpPr>
        <p:spPr>
          <a:xfrm>
            <a:off x="9299448" y="2944368"/>
            <a:ext cx="2615184" cy="512064"/>
          </a:xfrm>
          <a:prstGeom prst="rect">
            <a:avLst/>
          </a:prstGeom>
          <a:noFill/>
          <a:ln/>
        </p:spPr>
        <p:txBody>
          <a:bodyPr wrap="square" lIns="0" tIns="0" rIns="0" bIns="0" rtlCol="0" anchor="ctr"/>
          <a:lstStyle/>
          <a:p>
            <a:pPr algn="ctr" indent="0" marL="0">
              <a:buNone/>
            </a:pPr>
            <a:r>
              <a:rPr lang="en-US" sz="2600" b="1" dirty="0">
                <a:solidFill>
                  <a:srgbClr val="082F22"/>
                </a:solidFill>
                <a:latin typeface="Cambria" pitchFamily="34" charset="0"/>
                <a:ea typeface="Cambria" pitchFamily="34" charset="-122"/>
                <a:cs typeface="Cambria" pitchFamily="34" charset="-120"/>
              </a:rPr>
              <a:t>26–40 min</a:t>
            </a:r>
            <a:endParaRPr lang="en-US" sz="2600" dirty="0"/>
          </a:p>
        </p:txBody>
      </p:sp>
      <p:sp>
        <p:nvSpPr>
          <p:cNvPr id="16" name="Text 14"/>
          <p:cNvSpPr txBox="1"/>
          <p:nvPr/>
        </p:nvSpPr>
        <p:spPr>
          <a:xfrm>
            <a:off x="9445752" y="3493008"/>
            <a:ext cx="2322576" cy="384048"/>
          </a:xfrm>
          <a:prstGeom prst="rect">
            <a:avLst/>
          </a:prstGeom>
          <a:noFill/>
          <a:ln/>
        </p:spPr>
        <p:txBody>
          <a:bodyPr wrap="square" lIns="0" tIns="0" rIns="0" bIns="0" rtlCol="0" anchor="ctr"/>
          <a:lstStyle/>
          <a:p>
            <a:pPr algn="ctr" indent="0" marL="0">
              <a:buNone/>
            </a:pPr>
            <a:r>
              <a:rPr lang="en-US" sz="1150" dirty="0">
                <a:solidFill>
                  <a:srgbClr val="7C7469"/>
                </a:solidFill>
                <a:latin typeface="Calibri" pitchFamily="34" charset="0"/>
                <a:ea typeface="Calibri" pitchFamily="34" charset="-122"/>
                <a:cs typeface="Calibri" pitchFamily="34" charset="-120"/>
              </a:rPr>
              <a:t>Documentaire + capsules</a:t>
            </a:r>
            <a:endParaRPr lang="en-US" sz="1150" dirty="0"/>
          </a:p>
        </p:txBody>
      </p:sp>
      <p:sp>
        <p:nvSpPr>
          <p:cNvPr id="17" name="Shape 15"/>
          <p:cNvSpPr/>
          <p:nvPr/>
        </p:nvSpPr>
        <p:spPr>
          <a:xfrm>
            <a:off x="685800" y="4443984"/>
            <a:ext cx="10820095" cy="1371600"/>
          </a:xfrm>
          <a:prstGeom prst="roundRect">
            <a:avLst>
              <a:gd name="adj" fmla="val 4000"/>
            </a:avLst>
          </a:prstGeom>
          <a:solidFill>
            <a:srgbClr val="082F22"/>
          </a:solidFill>
          <a:ln w="12700">
            <a:solidFill>
              <a:srgbClr val="082F22"/>
            </a:solidFill>
            <a:prstDash val="solid"/>
          </a:ln>
        </p:spPr>
      </p:sp>
      <p:sp>
        <p:nvSpPr>
          <p:cNvPr id="18" name="Text 16"/>
          <p:cNvSpPr txBox="1"/>
          <p:nvPr/>
        </p:nvSpPr>
        <p:spPr>
          <a:xfrm>
            <a:off x="1051560" y="4645152"/>
            <a:ext cx="5486400" cy="256032"/>
          </a:xfrm>
          <a:prstGeom prst="rect">
            <a:avLst/>
          </a:prstGeom>
          <a:noFill/>
          <a:ln/>
        </p:spPr>
        <p:txBody>
          <a:bodyPr wrap="square" lIns="0" tIns="0" rIns="0" bIns="0" rtlCol="0" anchor="ctr"/>
          <a:lstStyle/>
          <a:p>
            <a:pPr indent="0" marL="0">
              <a:buNone/>
            </a:pPr>
            <a:r>
              <a:rPr lang="en-US" sz="1100" b="1" spc="240" kern="0" dirty="0">
                <a:solidFill>
                  <a:srgbClr val="D4AF37"/>
                </a:solidFill>
                <a:latin typeface="Calibri" pitchFamily="34" charset="0"/>
                <a:ea typeface="Calibri" pitchFamily="34" charset="-122"/>
                <a:cs typeface="Calibri" pitchFamily="34" charset="-120"/>
              </a:rPr>
              <a:t>CE QUE NOUS DEMANDONS</a:t>
            </a:r>
            <a:endParaRPr lang="en-US" sz="1100" dirty="0"/>
          </a:p>
        </p:txBody>
      </p:sp>
      <p:sp>
        <p:nvSpPr>
          <p:cNvPr id="19" name="Text 17"/>
          <p:cNvSpPr txBox="1"/>
          <p:nvPr/>
        </p:nvSpPr>
        <p:spPr>
          <a:xfrm>
            <a:off x="1051560" y="4956048"/>
            <a:ext cx="10088575" cy="731520"/>
          </a:xfrm>
          <a:prstGeom prst="rect">
            <a:avLst/>
          </a:prstGeom>
          <a:noFill/>
          <a:ln/>
        </p:spPr>
        <p:txBody>
          <a:bodyPr wrap="square" lIns="0" tIns="0" rIns="0" bIns="0" rtlCol="0" anchor="ctr"/>
          <a:lstStyle/>
          <a:p>
            <a:pPr indent="0" marL="0">
              <a:lnSpc>
                <a:spcPct val="120000"/>
              </a:lnSpc>
              <a:buNone/>
            </a:pPr>
            <a:r>
              <a:rPr lang="en-US" sz="1350" dirty="0">
                <a:solidFill>
                  <a:srgbClr val="D8E4DB"/>
                </a:solidFill>
                <a:latin typeface="Calibri" pitchFamily="34" charset="0"/>
                <a:ea typeface="Calibri" pitchFamily="34" charset="-122"/>
                <a:cs typeface="Calibri" pitchFamily="34" charset="-120"/>
              </a:rPr>
              <a:t>Un accompagnement financier ou matériel, en une ou plusieurs contributions, avant le 30 septembre 2026 — date à laquelle le budget doit être bouclé pour engager les repérages et sécuriser les rendez-vous avec les intervenants avant la Journée.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GENÈSE</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D'une journée à un documentaire</a:t>
            </a:r>
            <a:endParaRPr lang="en-US" sz="3800" dirty="0"/>
          </a:p>
        </p:txBody>
      </p:sp>
      <p:sp>
        <p:nvSpPr>
          <p:cNvPr id="4" name="Text 2"/>
          <p:cNvSpPr txBox="1"/>
          <p:nvPr/>
        </p:nvSpPr>
        <p:spPr>
          <a:xfrm>
            <a:off x="685800" y="1591056"/>
            <a:ext cx="10820095" cy="457200"/>
          </a:xfrm>
          <a:prstGeom prst="rect">
            <a:avLst/>
          </a:prstGeom>
          <a:noFill/>
          <a:ln/>
        </p:spPr>
        <p:txBody>
          <a:bodyPr wrap="square" lIns="0" tIns="0" rIns="0" bIns="0" rtlCol="0" anchor="ctr"/>
          <a:lstStyle/>
          <a:p>
            <a:pPr indent="0" marL="0">
              <a:lnSpc>
                <a:spcPct val="120000"/>
              </a:lnSpc>
              <a:buNone/>
            </a:pPr>
            <a:r>
              <a:rPr lang="en-US" sz="1500" dirty="0">
                <a:solidFill>
                  <a:srgbClr val="4A443C"/>
                </a:solidFill>
                <a:latin typeface="Calibri" pitchFamily="34" charset="0"/>
                <a:ea typeface="Calibri" pitchFamily="34" charset="-122"/>
                <a:cs typeface="Calibri" pitchFamily="34" charset="-120"/>
              </a:rPr>
              <a:t>La Journée Salaatu ʿAlaa Nabii existe déjà. Ce qui manque, c'est une trace soignée et durable, qui dépasse le cercle des présents.</a:t>
            </a:r>
            <a:endParaRPr lang="en-US" sz="1500" dirty="0"/>
          </a:p>
        </p:txBody>
      </p:sp>
      <p:sp>
        <p:nvSpPr>
          <p:cNvPr id="5" name="Shape 3"/>
          <p:cNvSpPr/>
          <p:nvPr/>
        </p:nvSpPr>
        <p:spPr>
          <a:xfrm>
            <a:off x="685800" y="2423160"/>
            <a:ext cx="3502152" cy="3108960"/>
          </a:xfrm>
          <a:prstGeom prst="roundRect">
            <a:avLst>
              <a:gd name="adj" fmla="val 1765"/>
            </a:avLst>
          </a:prstGeom>
          <a:solidFill>
            <a:srgbClr val="F3EDE0"/>
          </a:solidFill>
          <a:ln w="12700">
            <a:solidFill>
              <a:srgbClr val="E6DCC4"/>
            </a:solidFill>
            <a:prstDash val="solid"/>
          </a:ln>
        </p:spPr>
      </p:sp>
      <p:sp>
        <p:nvSpPr>
          <p:cNvPr id="6" name="Text 4"/>
          <p:cNvSpPr txBox="1"/>
          <p:nvPr/>
        </p:nvSpPr>
        <p:spPr>
          <a:xfrm>
            <a:off x="941832" y="2624328"/>
            <a:ext cx="2990088" cy="310896"/>
          </a:xfrm>
          <a:prstGeom prst="rect">
            <a:avLst/>
          </a:prstGeom>
          <a:noFill/>
          <a:ln/>
        </p:spPr>
        <p:txBody>
          <a:bodyPr wrap="square" lIns="0" tIns="0" rIns="0" bIns="0" rtlCol="0" anchor="ctr"/>
          <a:lstStyle/>
          <a:p>
            <a:pPr indent="0" marL="0">
              <a:buNone/>
            </a:pPr>
            <a:endParaRPr lang="en-US" sz="1600" dirty="0"/>
          </a:p>
        </p:txBody>
      </p:sp>
      <p:sp>
        <p:nvSpPr>
          <p:cNvPr id="7" name="Shape 5"/>
          <p:cNvSpPr/>
          <p:nvPr/>
        </p:nvSpPr>
        <p:spPr>
          <a:xfrm>
            <a:off x="941832" y="2651760"/>
            <a:ext cx="475488" cy="475488"/>
          </a:xfrm>
          <a:prstGeom prst="ellipse">
            <a:avLst/>
          </a:prstGeom>
          <a:solidFill>
            <a:srgbClr val="B8860B"/>
          </a:solidFill>
          <a:ln w="12700">
            <a:solidFill>
              <a:srgbClr val="B8860B"/>
            </a:solidFill>
            <a:prstDash val="solid"/>
          </a:ln>
        </p:spPr>
      </p:sp>
      <p:sp>
        <p:nvSpPr>
          <p:cNvPr id="8" name="Text 6"/>
          <p:cNvSpPr txBox="1"/>
          <p:nvPr/>
        </p:nvSpPr>
        <p:spPr>
          <a:xfrm>
            <a:off x="941832"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941832"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 événement comme point de départ</a:t>
            </a:r>
            <a:endParaRPr lang="en-US" sz="1600" dirty="0"/>
          </a:p>
        </p:txBody>
      </p:sp>
      <p:sp>
        <p:nvSpPr>
          <p:cNvPr id="10" name="Text 8"/>
          <p:cNvSpPr txBox="1"/>
          <p:nvPr/>
        </p:nvSpPr>
        <p:spPr>
          <a:xfrm>
            <a:off x="941832"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Au-delà de la couverture de la journée, le projet part à la rencontre de guides religieux et de fidèles pour recueillir leurs paroles et leurs enseignements. La Journée est le cadre principal du film, pas sa limite.</a:t>
            </a:r>
            <a:endParaRPr lang="en-US" sz="1250" dirty="0"/>
          </a:p>
        </p:txBody>
      </p:sp>
      <p:sp>
        <p:nvSpPr>
          <p:cNvPr id="11" name="Shape 9"/>
          <p:cNvSpPr/>
          <p:nvPr/>
        </p:nvSpPr>
        <p:spPr>
          <a:xfrm>
            <a:off x="4462272" y="2423160"/>
            <a:ext cx="3502152" cy="3108960"/>
          </a:xfrm>
          <a:prstGeom prst="roundRect">
            <a:avLst>
              <a:gd name="adj" fmla="val 1765"/>
            </a:avLst>
          </a:prstGeom>
          <a:solidFill>
            <a:srgbClr val="F3EDE0"/>
          </a:solidFill>
          <a:ln w="12700">
            <a:solidFill>
              <a:srgbClr val="E6DCC4"/>
            </a:solidFill>
            <a:prstDash val="solid"/>
          </a:ln>
        </p:spPr>
      </p:sp>
      <p:sp>
        <p:nvSpPr>
          <p:cNvPr id="12" name="Text 10"/>
          <p:cNvSpPr txBox="1"/>
          <p:nvPr/>
        </p:nvSpPr>
        <p:spPr>
          <a:xfrm>
            <a:off x="4718304" y="2624328"/>
            <a:ext cx="2990088" cy="310896"/>
          </a:xfrm>
          <a:prstGeom prst="rect">
            <a:avLst/>
          </a:prstGeom>
          <a:noFill/>
          <a:ln/>
        </p:spPr>
        <p:txBody>
          <a:bodyPr wrap="square" lIns="0" tIns="0" rIns="0" bIns="0" rtlCol="0" anchor="ctr"/>
          <a:lstStyle/>
          <a:p>
            <a:pPr indent="0" marL="0">
              <a:buNone/>
            </a:pPr>
            <a:endParaRPr lang="en-US" sz="1600" dirty="0"/>
          </a:p>
        </p:txBody>
      </p:sp>
      <p:sp>
        <p:nvSpPr>
          <p:cNvPr id="13" name="Shape 11"/>
          <p:cNvSpPr/>
          <p:nvPr/>
        </p:nvSpPr>
        <p:spPr>
          <a:xfrm>
            <a:off x="4718304" y="2651760"/>
            <a:ext cx="475488" cy="475488"/>
          </a:xfrm>
          <a:prstGeom prst="ellipse">
            <a:avLst/>
          </a:prstGeom>
          <a:solidFill>
            <a:srgbClr val="B8860B"/>
          </a:solidFill>
          <a:ln w="12700">
            <a:solidFill>
              <a:srgbClr val="B8860B"/>
            </a:solidFill>
            <a:prstDash val="solid"/>
          </a:ln>
        </p:spPr>
      </p:sp>
      <p:sp>
        <p:nvSpPr>
          <p:cNvPr id="14" name="Text 12"/>
          <p:cNvSpPr txBox="1"/>
          <p:nvPr/>
        </p:nvSpPr>
        <p:spPr>
          <a:xfrm>
            <a:off x="4718304"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718304"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Une démarche immersive</a:t>
            </a:r>
            <a:endParaRPr lang="en-US" sz="1600" dirty="0"/>
          </a:p>
        </p:txBody>
      </p:sp>
      <p:sp>
        <p:nvSpPr>
          <p:cNvPr id="16" name="Text 14"/>
          <p:cNvSpPr txBox="1"/>
          <p:nvPr/>
        </p:nvSpPr>
        <p:spPr>
          <a:xfrm>
            <a:off x="4718304"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Le tournage se poursuivra dans d'autres lieux et régions, selon la disponibilité des intervenants retenus. L'approche est documentaire, humaine, proche des visages et des voix.</a:t>
            </a:r>
            <a:endParaRPr lang="en-US" sz="1250" dirty="0"/>
          </a:p>
        </p:txBody>
      </p:sp>
      <p:sp>
        <p:nvSpPr>
          <p:cNvPr id="17" name="Shape 15"/>
          <p:cNvSpPr/>
          <p:nvPr/>
        </p:nvSpPr>
        <p:spPr>
          <a:xfrm>
            <a:off x="8238744" y="2423160"/>
            <a:ext cx="3502152" cy="3108960"/>
          </a:xfrm>
          <a:prstGeom prst="roundRect">
            <a:avLst>
              <a:gd name="adj" fmla="val 1765"/>
            </a:avLst>
          </a:prstGeom>
          <a:solidFill>
            <a:srgbClr val="F3EDE0"/>
          </a:solidFill>
          <a:ln w="12700">
            <a:solidFill>
              <a:srgbClr val="E6DCC4"/>
            </a:solidFill>
            <a:prstDash val="solid"/>
          </a:ln>
        </p:spPr>
      </p:sp>
      <p:sp>
        <p:nvSpPr>
          <p:cNvPr id="18" name="Text 16"/>
          <p:cNvSpPr txBox="1"/>
          <p:nvPr/>
        </p:nvSpPr>
        <p:spPr>
          <a:xfrm>
            <a:off x="8494776" y="2624328"/>
            <a:ext cx="2990088" cy="310896"/>
          </a:xfrm>
          <a:prstGeom prst="rect">
            <a:avLst/>
          </a:prstGeom>
          <a:noFill/>
          <a:ln/>
        </p:spPr>
        <p:txBody>
          <a:bodyPr wrap="square" lIns="0" tIns="0" rIns="0" bIns="0" rtlCol="0" anchor="ctr"/>
          <a:lstStyle/>
          <a:p>
            <a:pPr indent="0" marL="0">
              <a:buNone/>
            </a:pPr>
            <a:endParaRPr lang="en-US" sz="1600" dirty="0"/>
          </a:p>
        </p:txBody>
      </p:sp>
      <p:sp>
        <p:nvSpPr>
          <p:cNvPr id="19" name="Shape 17"/>
          <p:cNvSpPr/>
          <p:nvPr/>
        </p:nvSpPr>
        <p:spPr>
          <a:xfrm>
            <a:off x="8494776" y="2651760"/>
            <a:ext cx="475488" cy="475488"/>
          </a:xfrm>
          <a:prstGeom prst="ellipse">
            <a:avLst/>
          </a:prstGeom>
          <a:solidFill>
            <a:srgbClr val="B8860B"/>
          </a:solidFill>
          <a:ln w="12700">
            <a:solidFill>
              <a:srgbClr val="B8860B"/>
            </a:solidFill>
            <a:prstDash val="solid"/>
          </a:ln>
        </p:spPr>
      </p:sp>
      <p:sp>
        <p:nvSpPr>
          <p:cNvPr id="20" name="Text 18"/>
          <p:cNvSpPr txBox="1"/>
          <p:nvPr/>
        </p:nvSpPr>
        <p:spPr>
          <a:xfrm>
            <a:off x="8494776" y="2651760"/>
            <a:ext cx="475488" cy="475488"/>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8494776" y="3273552"/>
            <a:ext cx="2990088" cy="658368"/>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Un projet de transmission</a:t>
            </a:r>
            <a:endParaRPr lang="en-US" sz="1600" dirty="0"/>
          </a:p>
        </p:txBody>
      </p:sp>
      <p:sp>
        <p:nvSpPr>
          <p:cNvPr id="22" name="Text 20"/>
          <p:cNvSpPr txBox="1"/>
          <p:nvPr/>
        </p:nvSpPr>
        <p:spPr>
          <a:xfrm>
            <a:off x="8494776" y="3986784"/>
            <a:ext cx="2990088" cy="1371600"/>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Le film valorise la transmission orale et les enseignements religieux, avec une réalisation respectueuse du caractère sacré du sujet et un contenu accessible au plus grand nombre.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SYNOPSIS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Trois voix, un même fil</a:t>
            </a:r>
            <a:endParaRPr lang="en-US" sz="3800" dirty="0"/>
          </a:p>
        </p:txBody>
      </p:sp>
      <p:sp>
        <p:nvSpPr>
          <p:cNvPr id="4" name="Text 2"/>
          <p:cNvSpPr txBox="1"/>
          <p:nvPr/>
        </p:nvSpPr>
        <p:spPr>
          <a:xfrm>
            <a:off x="685800" y="1591056"/>
            <a:ext cx="10820095" cy="457200"/>
          </a:xfrm>
          <a:prstGeom prst="rect">
            <a:avLst/>
          </a:prstGeom>
          <a:noFill/>
          <a:ln/>
        </p:spPr>
        <p:txBody>
          <a:bodyPr wrap="square" lIns="0" tIns="0" rIns="0" bIns="0" rtlCol="0" anchor="ctr"/>
          <a:lstStyle/>
          <a:p>
            <a:pPr indent="0" marL="0">
              <a:lnSpc>
                <a:spcPct val="120000"/>
              </a:lnSpc>
              <a:buNone/>
            </a:pPr>
            <a:r>
              <a:rPr lang="en-US" sz="1500" dirty="0">
                <a:solidFill>
                  <a:srgbClr val="4A443C"/>
                </a:solidFill>
                <a:latin typeface="Calibri" pitchFamily="34" charset="0"/>
                <a:ea typeface="Calibri" pitchFamily="34" charset="-122"/>
                <a:cs typeface="Calibri" pitchFamily="34" charset="-120"/>
              </a:rPr>
              <a:t>À travers des entretiens avec des guides religieux et des témoignages de fidèles, le film explore les différentes dimensions de la prière sur le Prophète.</a:t>
            </a:r>
            <a:endParaRPr lang="en-US" sz="1500" dirty="0"/>
          </a:p>
        </p:txBody>
      </p:sp>
      <p:sp>
        <p:nvSpPr>
          <p:cNvPr id="5" name="Shape 3"/>
          <p:cNvSpPr/>
          <p:nvPr/>
        </p:nvSpPr>
        <p:spPr>
          <a:xfrm>
            <a:off x="685800" y="2651760"/>
            <a:ext cx="3502152" cy="2651760"/>
          </a:xfrm>
          <a:prstGeom prst="roundRect">
            <a:avLst>
              <a:gd name="adj" fmla="val 2069"/>
            </a:avLst>
          </a:prstGeom>
          <a:solidFill>
            <a:srgbClr val="F3EDE0"/>
          </a:solidFill>
          <a:ln w="12700">
            <a:solidFill>
              <a:srgbClr val="E6DCC4"/>
            </a:solidFill>
            <a:prstDash val="solid"/>
          </a:ln>
        </p:spPr>
      </p:sp>
      <p:sp>
        <p:nvSpPr>
          <p:cNvPr id="6" name="Text 4"/>
          <p:cNvSpPr txBox="1"/>
          <p:nvPr/>
        </p:nvSpPr>
        <p:spPr>
          <a:xfrm>
            <a:off x="941832"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La parole des guides</a:t>
            </a:r>
            <a:endParaRPr lang="en-US" sz="1600" dirty="0"/>
          </a:p>
        </p:txBody>
      </p:sp>
      <p:sp>
        <p:nvSpPr>
          <p:cNvPr id="7" name="Text 5"/>
          <p:cNvSpPr txBox="1"/>
          <p:nvPr/>
        </p:nvSpPr>
        <p:spPr>
          <a:xfrm>
            <a:off x="941832"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Des entretiens approfondis avec des guides religieux et des érudits pour explorer les fondements spirituels, théologiques et historiques du Salaatu ʿAlaa Nabii.</a:t>
            </a:r>
            <a:endParaRPr lang="en-US" sz="1250" dirty="0"/>
          </a:p>
        </p:txBody>
      </p:sp>
      <p:sp>
        <p:nvSpPr>
          <p:cNvPr id="8" name="Shape 6"/>
          <p:cNvSpPr/>
          <p:nvPr/>
        </p:nvSpPr>
        <p:spPr>
          <a:xfrm>
            <a:off x="4462272" y="2651760"/>
            <a:ext cx="3502152" cy="2651760"/>
          </a:xfrm>
          <a:prstGeom prst="roundRect">
            <a:avLst>
              <a:gd name="adj" fmla="val 2069"/>
            </a:avLst>
          </a:prstGeom>
          <a:solidFill>
            <a:srgbClr val="F3EDE0"/>
          </a:solidFill>
          <a:ln w="12700">
            <a:solidFill>
              <a:srgbClr val="E6DCC4"/>
            </a:solidFill>
            <a:prstDash val="solid"/>
          </a:ln>
        </p:spPr>
      </p:sp>
      <p:sp>
        <p:nvSpPr>
          <p:cNvPr id="9" name="Text 7"/>
          <p:cNvSpPr txBox="1"/>
          <p:nvPr/>
        </p:nvSpPr>
        <p:spPr>
          <a:xfrm>
            <a:off x="4718304"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Le témoignage des fidèles</a:t>
            </a:r>
            <a:endParaRPr lang="en-US" sz="1600" dirty="0"/>
          </a:p>
        </p:txBody>
      </p:sp>
      <p:sp>
        <p:nvSpPr>
          <p:cNvPr id="10" name="Text 8"/>
          <p:cNvSpPr txBox="1"/>
          <p:nvPr/>
        </p:nvSpPr>
        <p:spPr>
          <a:xfrm>
            <a:off x="4718304"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Des fidèles de différentes communautés racontent la manière dont cette prière est vécue au quotidien, dans sa dimension personnelle autant que collective.</a:t>
            </a:r>
            <a:endParaRPr lang="en-US" sz="1250" dirty="0"/>
          </a:p>
        </p:txBody>
      </p:sp>
      <p:sp>
        <p:nvSpPr>
          <p:cNvPr id="11" name="Shape 9"/>
          <p:cNvSpPr/>
          <p:nvPr/>
        </p:nvSpPr>
        <p:spPr>
          <a:xfrm>
            <a:off x="8238744" y="2651760"/>
            <a:ext cx="3502152" cy="2651760"/>
          </a:xfrm>
          <a:prstGeom prst="roundRect">
            <a:avLst>
              <a:gd name="adj" fmla="val 2069"/>
            </a:avLst>
          </a:prstGeom>
          <a:solidFill>
            <a:srgbClr val="F3EDE0"/>
          </a:solidFill>
          <a:ln w="12700">
            <a:solidFill>
              <a:srgbClr val="E6DCC4"/>
            </a:solidFill>
            <a:prstDash val="solid"/>
          </a:ln>
        </p:spPr>
      </p:sp>
      <p:sp>
        <p:nvSpPr>
          <p:cNvPr id="12" name="Text 10"/>
          <p:cNvSpPr txBox="1"/>
          <p:nvPr/>
        </p:nvSpPr>
        <p:spPr>
          <a:xfrm>
            <a:off x="8494776" y="2852928"/>
            <a:ext cx="2990088" cy="310896"/>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Les lieux et l'ambiance</a:t>
            </a:r>
            <a:endParaRPr lang="en-US" sz="1600" dirty="0"/>
          </a:p>
        </p:txBody>
      </p:sp>
      <p:sp>
        <p:nvSpPr>
          <p:cNvPr id="13" name="Text 11"/>
          <p:cNvSpPr txBox="1"/>
          <p:nvPr/>
        </p:nvSpPr>
        <p:spPr>
          <a:xfrm>
            <a:off x="8494776" y="3218688"/>
            <a:ext cx="2990088" cy="1865376"/>
          </a:xfrm>
          <a:prstGeom prst="rect">
            <a:avLst/>
          </a:prstGeom>
          <a:noFill/>
          <a:ln/>
        </p:spPr>
        <p:txBody>
          <a:bodyPr wrap="square" lIns="0" tIns="0" rIns="0" bIns="0" rtlCol="0" anchor="t"/>
          <a:lstStyle/>
          <a:p>
            <a:pPr indent="0" marL="0">
              <a:lnSpc>
                <a:spcPct val="118000"/>
              </a:lnSpc>
              <a:buNone/>
            </a:pPr>
            <a:r>
              <a:rPr lang="en-US" sz="1250" dirty="0">
                <a:solidFill>
                  <a:srgbClr val="4A443C"/>
                </a:solidFill>
                <a:latin typeface="Calibri" pitchFamily="34" charset="0"/>
                <a:ea typeface="Calibri" pitchFamily="34" charset="-122"/>
                <a:cs typeface="Calibri" pitchFamily="34" charset="-120"/>
              </a:rPr>
              <a:t>Mosquées, espaces d'enseignement, scènes de vie : des plans d'illustration assurent la continuité visuelle entre les témoignages et ancrent le récit.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2F22"/>
        </a:solidFill>
      </p:bgPr>
    </p:bg>
    <p:spTree>
      <p:nvGrpSpPr>
        <p:cNvPr id="1" name=""/>
        <p:cNvGrpSpPr/>
        <p:nvPr/>
      </p:nvGrpSpPr>
      <p:grpSpPr>
        <a:xfrm>
          <a:off x="0" y="0"/>
          <a:ext cx="0" cy="0"/>
          <a:chOff x="0" y="0"/>
          <a:chExt cx="0" cy="0"/>
        </a:xfrm>
      </p:grpSpPr>
      <p:sp>
        <p:nvSpPr>
          <p:cNvPr id="2" name="Text 0"/>
          <p:cNvSpPr txBox="1"/>
          <p:nvPr/>
        </p:nvSpPr>
        <p:spPr>
          <a:xfrm>
            <a:off x="685800" y="603504"/>
            <a:ext cx="5486400" cy="256032"/>
          </a:xfrm>
          <a:prstGeom prst="rect">
            <a:avLst/>
          </a:prstGeom>
          <a:noFill/>
          <a:ln/>
        </p:spPr>
        <p:txBody>
          <a:bodyPr wrap="square" lIns="0" tIns="0" rIns="0" bIns="0" rtlCol="0" anchor="ctr"/>
          <a:lstStyle/>
          <a:p>
            <a:pPr indent="0" marL="0">
              <a:buNone/>
            </a:pPr>
            <a:r>
              <a:rPr lang="en-US" sz="1150" b="1" spc="240" kern="0" dirty="0">
                <a:solidFill>
                  <a:srgbClr val="D4AF37"/>
                </a:solidFill>
                <a:latin typeface="Calibri" pitchFamily="34" charset="0"/>
                <a:ea typeface="Calibri" pitchFamily="34" charset="-122"/>
                <a:cs typeface="Calibri" pitchFamily="34" charset="-120"/>
              </a:rPr>
              <a:t>ENJEU</a:t>
            </a:r>
            <a:endParaRPr lang="en-US" sz="1150" dirty="0"/>
          </a:p>
        </p:txBody>
      </p:sp>
      <p:sp>
        <p:nvSpPr>
          <p:cNvPr id="3" name="Text 1"/>
          <p:cNvSpPr txBox="1"/>
          <p:nvPr/>
        </p:nvSpPr>
        <p:spPr>
          <a:xfrm>
            <a:off x="685800" y="896112"/>
            <a:ext cx="10820095"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Pourquoi ce projet, maintenant</a:t>
            </a:r>
            <a:endParaRPr lang="en-US" sz="3800" dirty="0"/>
          </a:p>
        </p:txBody>
      </p:sp>
      <p:sp>
        <p:nvSpPr>
          <p:cNvPr id="4" name="Text 2"/>
          <p:cNvSpPr txBox="1"/>
          <p:nvPr/>
        </p:nvSpPr>
        <p:spPr>
          <a:xfrm>
            <a:off x="685800" y="1719072"/>
            <a:ext cx="5212080" cy="1371600"/>
          </a:xfrm>
          <a:prstGeom prst="rect">
            <a:avLst/>
          </a:prstGeom>
          <a:noFill/>
          <a:ln/>
        </p:spPr>
        <p:txBody>
          <a:bodyPr wrap="square" lIns="0" tIns="0" rIns="0" bIns="0" rtlCol="0" anchor="ctr"/>
          <a:lstStyle/>
          <a:p>
            <a:pPr indent="0" marL="0">
              <a:lnSpc>
                <a:spcPct val="128000"/>
              </a:lnSpc>
              <a:buNone/>
            </a:pPr>
            <a:r>
              <a:rPr lang="en-US" sz="1450" dirty="0">
                <a:solidFill>
                  <a:srgbClr val="CFE0D4"/>
                </a:solidFill>
                <a:latin typeface="Calibri" pitchFamily="34" charset="0"/>
                <a:ea typeface="Calibri" pitchFamily="34" charset="-122"/>
                <a:cs typeface="Calibri" pitchFamily="34" charset="-120"/>
              </a:rPr>
              <a:t>La transmission des savoirs religieux passe de plus en plus par le numérique, et de moins en moins par la seule présence physique. Un contenu audiovisuel rigoureux peut servir de référence bien au-delà du cercle des présents à la Journée.</a:t>
            </a:r>
            <a:endParaRPr lang="en-US" sz="1450" dirty="0"/>
          </a:p>
        </p:txBody>
      </p:sp>
      <p:sp>
        <p:nvSpPr>
          <p:cNvPr id="5" name="Shape 3"/>
          <p:cNvSpPr/>
          <p:nvPr/>
        </p:nvSpPr>
        <p:spPr>
          <a:xfrm>
            <a:off x="685800" y="3310128"/>
            <a:ext cx="5212080" cy="2212848"/>
          </a:xfrm>
          <a:prstGeom prst="roundRect">
            <a:avLst>
              <a:gd name="adj" fmla="val 3306"/>
            </a:avLst>
          </a:prstGeom>
          <a:solidFill>
            <a:srgbClr val="0C2B1E"/>
          </a:solidFill>
          <a:ln w="12700">
            <a:solidFill>
              <a:srgbClr val="3E5A48"/>
            </a:solidFill>
            <a:prstDash val="solid"/>
          </a:ln>
        </p:spPr>
      </p:sp>
      <p:sp>
        <p:nvSpPr>
          <p:cNvPr id="6" name="Text 4"/>
          <p:cNvSpPr txBox="1"/>
          <p:nvPr/>
        </p:nvSpPr>
        <p:spPr>
          <a:xfrm>
            <a:off x="978408" y="3547872"/>
            <a:ext cx="4663440" cy="256032"/>
          </a:xfrm>
          <a:prstGeom prst="rect">
            <a:avLst/>
          </a:prstGeom>
          <a:noFill/>
          <a:ln/>
        </p:spPr>
        <p:txBody>
          <a:bodyPr wrap="square" lIns="0" tIns="0" rIns="0" bIns="0" rtlCol="0" anchor="ctr"/>
          <a:lstStyle/>
          <a:p>
            <a:pPr indent="0" marL="0">
              <a:buNone/>
            </a:pPr>
            <a:r>
              <a:rPr lang="en-US" sz="1100" b="1" spc="220" kern="0" dirty="0">
                <a:solidFill>
                  <a:srgbClr val="D4AF37"/>
                </a:solidFill>
                <a:latin typeface="Calibri" pitchFamily="34" charset="0"/>
                <a:ea typeface="Calibri" pitchFamily="34" charset="-122"/>
                <a:cs typeface="Calibri" pitchFamily="34" charset="-120"/>
              </a:rPr>
              <a:t>CE QUE LE FILM CHANGE</a:t>
            </a:r>
            <a:endParaRPr lang="en-US" sz="1100" dirty="0"/>
          </a:p>
        </p:txBody>
      </p:sp>
      <p:sp>
        <p:nvSpPr>
          <p:cNvPr id="7" name="Text 5"/>
          <p:cNvSpPr txBox="1"/>
          <p:nvPr/>
        </p:nvSpPr>
        <p:spPr>
          <a:xfrm>
            <a:off x="978408" y="3877056"/>
            <a:ext cx="4663440" cy="1417320"/>
          </a:xfrm>
          <a:prstGeom prst="rect">
            <a:avLst/>
          </a:prstGeom>
          <a:noFill/>
          <a:ln/>
        </p:spPr>
        <p:txBody>
          <a:bodyPr wrap="square" lIns="0" tIns="0" rIns="0" bIns="0" rtlCol="0" anchor="t"/>
          <a:lstStyle/>
          <a:p>
            <a:pPr indent="0" marL="0">
              <a:lnSpc>
                <a:spcPct val="128000"/>
              </a:lnSpc>
              <a:buNone/>
            </a:pPr>
            <a:r>
              <a:rPr lang="en-US" sz="1400" dirty="0">
                <a:solidFill>
                  <a:srgbClr val="D8E4DB"/>
                </a:solidFill>
                <a:latin typeface="Calibri" pitchFamily="34" charset="0"/>
                <a:ea typeface="Calibri" pitchFamily="34" charset="-122"/>
                <a:cs typeface="Calibri" pitchFamily="34" charset="-120"/>
              </a:rPr>
              <a:t>La Journée réunit quelques centaines de personnes pendant une journée. Le documentaire, lui, continue de circuler des années après — auprès de ceux qui n'ont pas pu venir, et de ceux qui ne sont pas encore nés.</a:t>
            </a:r>
            <a:endParaRPr lang="en-US" sz="1400" dirty="0"/>
          </a:p>
        </p:txBody>
      </p:sp>
      <p:sp>
        <p:nvSpPr>
          <p:cNvPr id="8" name="Shape 6"/>
          <p:cNvSpPr/>
          <p:nvPr/>
        </p:nvSpPr>
        <p:spPr>
          <a:xfrm>
            <a:off x="6309360" y="1783080"/>
            <a:ext cx="402336" cy="402336"/>
          </a:xfrm>
          <a:prstGeom prst="ellipse">
            <a:avLst/>
          </a:prstGeom>
          <a:solidFill>
            <a:srgbClr val="D4AF37"/>
          </a:solidFill>
          <a:ln w="12700">
            <a:solidFill>
              <a:srgbClr val="D4AF37"/>
            </a:solidFill>
            <a:prstDash val="solid"/>
          </a:ln>
        </p:spPr>
      </p:sp>
      <p:sp>
        <p:nvSpPr>
          <p:cNvPr id="9" name="Text 7"/>
          <p:cNvSpPr txBox="1"/>
          <p:nvPr/>
        </p:nvSpPr>
        <p:spPr>
          <a:xfrm>
            <a:off x="6309360" y="1783080"/>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6903720" y="1728216"/>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Peu de contenus de qualité existent sur cette pratique en format documentaire.</a:t>
            </a:r>
            <a:endParaRPr lang="en-US" sz="1350" dirty="0"/>
          </a:p>
        </p:txBody>
      </p:sp>
      <p:sp>
        <p:nvSpPr>
          <p:cNvPr id="11" name="Shape 9"/>
          <p:cNvSpPr/>
          <p:nvPr/>
        </p:nvSpPr>
        <p:spPr>
          <a:xfrm>
            <a:off x="6309360" y="2679192"/>
            <a:ext cx="402336" cy="402336"/>
          </a:xfrm>
          <a:prstGeom prst="ellipse">
            <a:avLst/>
          </a:prstGeom>
          <a:solidFill>
            <a:srgbClr val="D4AF37"/>
          </a:solidFill>
          <a:ln w="12700">
            <a:solidFill>
              <a:srgbClr val="D4AF37"/>
            </a:solidFill>
            <a:prstDash val="solid"/>
          </a:ln>
        </p:spPr>
      </p:sp>
      <p:sp>
        <p:nvSpPr>
          <p:cNvPr id="12" name="Text 10"/>
          <p:cNvSpPr txBox="1"/>
          <p:nvPr/>
        </p:nvSpPr>
        <p:spPr>
          <a:xfrm>
            <a:off x="6309360" y="2679192"/>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903720" y="2624328"/>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La parole des guides religieux mérite d'être documentée pendant qu'elle est disponible.</a:t>
            </a:r>
            <a:endParaRPr lang="en-US" sz="1350" dirty="0"/>
          </a:p>
        </p:txBody>
      </p:sp>
      <p:sp>
        <p:nvSpPr>
          <p:cNvPr id="14" name="Shape 12"/>
          <p:cNvSpPr/>
          <p:nvPr/>
        </p:nvSpPr>
        <p:spPr>
          <a:xfrm>
            <a:off x="6309360" y="3575304"/>
            <a:ext cx="402336" cy="402336"/>
          </a:xfrm>
          <a:prstGeom prst="ellipse">
            <a:avLst/>
          </a:prstGeom>
          <a:solidFill>
            <a:srgbClr val="D4AF37"/>
          </a:solidFill>
          <a:ln w="12700">
            <a:solidFill>
              <a:srgbClr val="D4AF37"/>
            </a:solidFill>
            <a:prstDash val="solid"/>
          </a:ln>
        </p:spPr>
      </p:sp>
      <p:sp>
        <p:nvSpPr>
          <p:cNvPr id="15" name="Text 13"/>
          <p:cNvSpPr txBox="1"/>
          <p:nvPr/>
        </p:nvSpPr>
        <p:spPr>
          <a:xfrm>
            <a:off x="6309360" y="3575304"/>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903720" y="3520440"/>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Les témoignages des fidèles apportent une perspective que le texte seul ne restitue pas.</a:t>
            </a:r>
            <a:endParaRPr lang="en-US" sz="1350" dirty="0"/>
          </a:p>
        </p:txBody>
      </p:sp>
      <p:sp>
        <p:nvSpPr>
          <p:cNvPr id="17" name="Shape 15"/>
          <p:cNvSpPr/>
          <p:nvPr/>
        </p:nvSpPr>
        <p:spPr>
          <a:xfrm>
            <a:off x="6309360" y="4471416"/>
            <a:ext cx="402336" cy="402336"/>
          </a:xfrm>
          <a:prstGeom prst="ellipse">
            <a:avLst/>
          </a:prstGeom>
          <a:solidFill>
            <a:srgbClr val="D4AF37"/>
          </a:solidFill>
          <a:ln w="12700">
            <a:solidFill>
              <a:srgbClr val="D4AF37"/>
            </a:solidFill>
            <a:prstDash val="solid"/>
          </a:ln>
        </p:spPr>
      </p:sp>
      <p:sp>
        <p:nvSpPr>
          <p:cNvPr id="18" name="Text 16"/>
          <p:cNvSpPr txBox="1"/>
          <p:nvPr/>
        </p:nvSpPr>
        <p:spPr>
          <a:xfrm>
            <a:off x="6309360" y="4471416"/>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4</a:t>
            </a:r>
            <a:endParaRPr lang="en-US" sz="1200" dirty="0"/>
          </a:p>
        </p:txBody>
      </p:sp>
      <p:sp>
        <p:nvSpPr>
          <p:cNvPr id="19" name="Text 17"/>
          <p:cNvSpPr txBox="1"/>
          <p:nvPr/>
        </p:nvSpPr>
        <p:spPr>
          <a:xfrm>
            <a:off x="6903720" y="4416552"/>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Un film bien réalisé touche un public bien plus large que l'événement, et pendant des années.</a:t>
            </a:r>
            <a:endParaRPr lang="en-US" sz="1350" dirty="0"/>
          </a:p>
        </p:txBody>
      </p:sp>
      <p:sp>
        <p:nvSpPr>
          <p:cNvPr id="20" name="Shape 18"/>
          <p:cNvSpPr/>
          <p:nvPr/>
        </p:nvSpPr>
        <p:spPr>
          <a:xfrm>
            <a:off x="6309360" y="5367528"/>
            <a:ext cx="402336" cy="402336"/>
          </a:xfrm>
          <a:prstGeom prst="ellipse">
            <a:avLst/>
          </a:prstGeom>
          <a:solidFill>
            <a:srgbClr val="D4AF37"/>
          </a:solidFill>
          <a:ln w="12700">
            <a:solidFill>
              <a:srgbClr val="D4AF37"/>
            </a:solidFill>
            <a:prstDash val="solid"/>
          </a:ln>
        </p:spPr>
      </p:sp>
      <p:sp>
        <p:nvSpPr>
          <p:cNvPr id="21" name="Text 19"/>
          <p:cNvSpPr txBox="1"/>
          <p:nvPr/>
        </p:nvSpPr>
        <p:spPr>
          <a:xfrm>
            <a:off x="6309360" y="5367528"/>
            <a:ext cx="402336" cy="402336"/>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903720" y="5312664"/>
            <a:ext cx="4602175" cy="731520"/>
          </a:xfrm>
          <a:prstGeom prst="rect">
            <a:avLst/>
          </a:prstGeom>
          <a:noFill/>
          <a:ln/>
        </p:spPr>
        <p:txBody>
          <a:bodyPr wrap="square" lIns="0" tIns="0" rIns="0" bIns="0" rtlCol="0" anchor="t"/>
          <a:lstStyle/>
          <a:p>
            <a:pPr indent="0" marL="0">
              <a:lnSpc>
                <a:spcPct val="118000"/>
              </a:lnSpc>
              <a:buNone/>
            </a:pPr>
            <a:r>
              <a:rPr lang="en-US" sz="1350" dirty="0">
                <a:solidFill>
                  <a:srgbClr val="E4EDE7"/>
                </a:solidFill>
                <a:latin typeface="Calibri" pitchFamily="34" charset="0"/>
                <a:ea typeface="Calibri" pitchFamily="34" charset="-122"/>
                <a:cs typeface="Calibri" pitchFamily="34" charset="-120"/>
              </a:rPr>
              <a:t>Le sous-titrage ouvre le film à la diaspora et aux publics qui ne parlent pas les langues des intervenants.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OBJECTIFS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Ce que le film doit accomplir</a:t>
            </a:r>
            <a:endParaRPr lang="en-US" sz="3800" dirty="0"/>
          </a:p>
        </p:txBody>
      </p:sp>
      <p:sp>
        <p:nvSpPr>
          <p:cNvPr id="4" name="Shape 2"/>
          <p:cNvSpPr/>
          <p:nvPr/>
        </p:nvSpPr>
        <p:spPr>
          <a:xfrm>
            <a:off x="685800" y="2103120"/>
            <a:ext cx="5349240" cy="1737360"/>
          </a:xfrm>
          <a:prstGeom prst="roundRect">
            <a:avLst>
              <a:gd name="adj" fmla="val 3158"/>
            </a:avLst>
          </a:prstGeom>
          <a:solidFill>
            <a:srgbClr val="F3EDE0"/>
          </a:solidFill>
          <a:ln w="12700">
            <a:solidFill>
              <a:srgbClr val="E6DCC4"/>
            </a:solidFill>
            <a:prstDash val="solid"/>
          </a:ln>
        </p:spPr>
      </p:sp>
      <p:sp>
        <p:nvSpPr>
          <p:cNvPr id="5" name="Text 3"/>
          <p:cNvSpPr txBox="1"/>
          <p:nvPr/>
        </p:nvSpPr>
        <p:spPr>
          <a:xfrm>
            <a:off x="941832" y="2304288"/>
            <a:ext cx="4837176" cy="310896"/>
          </a:xfrm>
          <a:prstGeom prst="rect">
            <a:avLst/>
          </a:prstGeom>
          <a:noFill/>
          <a:ln/>
        </p:spPr>
        <p:txBody>
          <a:bodyPr wrap="square" lIns="0" tIns="0" rIns="0" bIns="0" rtlCol="0" anchor="ctr"/>
          <a:lstStyle/>
          <a:p>
            <a:pPr indent="0" marL="0">
              <a:buNone/>
            </a:pPr>
            <a:endParaRPr lang="en-US" sz="1600" dirty="0"/>
          </a:p>
        </p:txBody>
      </p:sp>
      <p:sp>
        <p:nvSpPr>
          <p:cNvPr id="6" name="Shape 4"/>
          <p:cNvSpPr/>
          <p:nvPr/>
        </p:nvSpPr>
        <p:spPr>
          <a:xfrm>
            <a:off x="960120" y="2359152"/>
            <a:ext cx="420624" cy="420624"/>
          </a:xfrm>
          <a:prstGeom prst="ellipse">
            <a:avLst/>
          </a:prstGeom>
          <a:solidFill>
            <a:srgbClr val="B8860B"/>
          </a:solidFill>
          <a:ln w="12700">
            <a:solidFill>
              <a:srgbClr val="B8860B"/>
            </a:solidFill>
            <a:prstDash val="solid"/>
          </a:ln>
        </p:spPr>
      </p:sp>
      <p:sp>
        <p:nvSpPr>
          <p:cNvPr id="7" name="Text 5"/>
          <p:cNvSpPr txBox="1"/>
          <p:nvPr/>
        </p:nvSpPr>
        <p:spPr>
          <a:xfrm>
            <a:off x="960120" y="235915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527048" y="237744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Documenter &amp; expliquer</a:t>
            </a:r>
            <a:endParaRPr lang="en-US" sz="1700" dirty="0"/>
          </a:p>
        </p:txBody>
      </p:sp>
      <p:sp>
        <p:nvSpPr>
          <p:cNvPr id="9" name="Text 7"/>
          <p:cNvSpPr txBox="1"/>
          <p:nvPr/>
        </p:nvSpPr>
        <p:spPr>
          <a:xfrm>
            <a:off x="960120" y="288950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Restituer les dimensions spirituelles, historiques et pratiques du Salaatu ʿAlaa Nabii par la parole des guides et des érudits.</a:t>
            </a:r>
            <a:endParaRPr lang="en-US" sz="1250" dirty="0"/>
          </a:p>
        </p:txBody>
      </p:sp>
      <p:sp>
        <p:nvSpPr>
          <p:cNvPr id="10" name="Shape 8"/>
          <p:cNvSpPr/>
          <p:nvPr/>
        </p:nvSpPr>
        <p:spPr>
          <a:xfrm>
            <a:off x="6336792" y="2103120"/>
            <a:ext cx="5349240" cy="1737360"/>
          </a:xfrm>
          <a:prstGeom prst="roundRect">
            <a:avLst>
              <a:gd name="adj" fmla="val 3158"/>
            </a:avLst>
          </a:prstGeom>
          <a:solidFill>
            <a:srgbClr val="F3EDE0"/>
          </a:solidFill>
          <a:ln w="12700">
            <a:solidFill>
              <a:srgbClr val="E6DCC4"/>
            </a:solidFill>
            <a:prstDash val="solid"/>
          </a:ln>
        </p:spPr>
      </p:sp>
      <p:sp>
        <p:nvSpPr>
          <p:cNvPr id="11" name="Text 9"/>
          <p:cNvSpPr txBox="1"/>
          <p:nvPr/>
        </p:nvSpPr>
        <p:spPr>
          <a:xfrm>
            <a:off x="6592824" y="2304288"/>
            <a:ext cx="4837176" cy="310896"/>
          </a:xfrm>
          <a:prstGeom prst="rect">
            <a:avLst/>
          </a:prstGeom>
          <a:noFill/>
          <a:ln/>
        </p:spPr>
        <p:txBody>
          <a:bodyPr wrap="square" lIns="0" tIns="0" rIns="0" bIns="0" rtlCol="0" anchor="ctr"/>
          <a:lstStyle/>
          <a:p>
            <a:pPr indent="0" marL="0">
              <a:buNone/>
            </a:pPr>
            <a:endParaRPr lang="en-US" sz="1600" dirty="0"/>
          </a:p>
        </p:txBody>
      </p:sp>
      <p:sp>
        <p:nvSpPr>
          <p:cNvPr id="12" name="Shape 10"/>
          <p:cNvSpPr/>
          <p:nvPr/>
        </p:nvSpPr>
        <p:spPr>
          <a:xfrm>
            <a:off x="6611112" y="2359152"/>
            <a:ext cx="420624" cy="420624"/>
          </a:xfrm>
          <a:prstGeom prst="ellipse">
            <a:avLst/>
          </a:prstGeom>
          <a:solidFill>
            <a:srgbClr val="B8860B"/>
          </a:solidFill>
          <a:ln w="12700">
            <a:solidFill>
              <a:srgbClr val="B8860B"/>
            </a:solidFill>
            <a:prstDash val="solid"/>
          </a:ln>
        </p:spPr>
      </p:sp>
      <p:sp>
        <p:nvSpPr>
          <p:cNvPr id="13" name="Text 11"/>
          <p:cNvSpPr txBox="1"/>
          <p:nvPr/>
        </p:nvSpPr>
        <p:spPr>
          <a:xfrm>
            <a:off x="6611112" y="235915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7178040" y="237744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Recueillir les témoignages</a:t>
            </a:r>
            <a:endParaRPr lang="en-US" sz="1700" dirty="0"/>
          </a:p>
        </p:txBody>
      </p:sp>
      <p:sp>
        <p:nvSpPr>
          <p:cNvPr id="15" name="Text 13"/>
          <p:cNvSpPr txBox="1"/>
          <p:nvPr/>
        </p:nvSpPr>
        <p:spPr>
          <a:xfrm>
            <a:off x="6611112" y="288950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Donner une voix à des fidèles de profils et d'horizons différents, pour illustrer la diversité des vécus.</a:t>
            </a:r>
            <a:endParaRPr lang="en-US" sz="1250" dirty="0"/>
          </a:p>
        </p:txBody>
      </p:sp>
      <p:sp>
        <p:nvSpPr>
          <p:cNvPr id="16" name="Shape 14"/>
          <p:cNvSpPr/>
          <p:nvPr/>
        </p:nvSpPr>
        <p:spPr>
          <a:xfrm>
            <a:off x="685800" y="4114800"/>
            <a:ext cx="5349240" cy="1737360"/>
          </a:xfrm>
          <a:prstGeom prst="roundRect">
            <a:avLst>
              <a:gd name="adj" fmla="val 3158"/>
            </a:avLst>
          </a:prstGeom>
          <a:solidFill>
            <a:srgbClr val="F3EDE0"/>
          </a:solidFill>
          <a:ln w="12700">
            <a:solidFill>
              <a:srgbClr val="E6DCC4"/>
            </a:solidFill>
            <a:prstDash val="solid"/>
          </a:ln>
        </p:spPr>
      </p:sp>
      <p:sp>
        <p:nvSpPr>
          <p:cNvPr id="17" name="Text 15"/>
          <p:cNvSpPr txBox="1"/>
          <p:nvPr/>
        </p:nvSpPr>
        <p:spPr>
          <a:xfrm>
            <a:off x="941832" y="4315968"/>
            <a:ext cx="4837176" cy="310896"/>
          </a:xfrm>
          <a:prstGeom prst="rect">
            <a:avLst/>
          </a:prstGeom>
          <a:noFill/>
          <a:ln/>
        </p:spPr>
        <p:txBody>
          <a:bodyPr wrap="square" lIns="0" tIns="0" rIns="0" bIns="0" rtlCol="0" anchor="ctr"/>
          <a:lstStyle/>
          <a:p>
            <a:pPr indent="0" marL="0">
              <a:buNone/>
            </a:pPr>
            <a:endParaRPr lang="en-US" sz="1600" dirty="0"/>
          </a:p>
        </p:txBody>
      </p:sp>
      <p:sp>
        <p:nvSpPr>
          <p:cNvPr id="18" name="Shape 16"/>
          <p:cNvSpPr/>
          <p:nvPr/>
        </p:nvSpPr>
        <p:spPr>
          <a:xfrm>
            <a:off x="960120" y="4370832"/>
            <a:ext cx="420624" cy="420624"/>
          </a:xfrm>
          <a:prstGeom prst="ellipse">
            <a:avLst/>
          </a:prstGeom>
          <a:solidFill>
            <a:srgbClr val="B8860B"/>
          </a:solidFill>
          <a:ln w="12700">
            <a:solidFill>
              <a:srgbClr val="B8860B"/>
            </a:solidFill>
            <a:prstDash val="solid"/>
          </a:ln>
        </p:spPr>
      </p:sp>
      <p:sp>
        <p:nvSpPr>
          <p:cNvPr id="19" name="Text 17"/>
          <p:cNvSpPr txBox="1"/>
          <p:nvPr/>
        </p:nvSpPr>
        <p:spPr>
          <a:xfrm>
            <a:off x="960120" y="437083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1527048" y="438912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Rendre accessible</a:t>
            </a:r>
            <a:endParaRPr lang="en-US" sz="1700" dirty="0"/>
          </a:p>
        </p:txBody>
      </p:sp>
      <p:sp>
        <p:nvSpPr>
          <p:cNvPr id="21" name="Text 19"/>
          <p:cNvSpPr txBox="1"/>
          <p:nvPr/>
        </p:nvSpPr>
        <p:spPr>
          <a:xfrm>
            <a:off x="960120" y="490118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Produire un contenu pédagogique, sous-titré, diffusable sur toutes les plateformes et compréhensible par un public multilingue.</a:t>
            </a:r>
            <a:endParaRPr lang="en-US" sz="1250" dirty="0"/>
          </a:p>
        </p:txBody>
      </p:sp>
      <p:sp>
        <p:nvSpPr>
          <p:cNvPr id="22" name="Shape 20"/>
          <p:cNvSpPr/>
          <p:nvPr/>
        </p:nvSpPr>
        <p:spPr>
          <a:xfrm>
            <a:off x="6336792" y="4114800"/>
            <a:ext cx="5349240" cy="1737360"/>
          </a:xfrm>
          <a:prstGeom prst="roundRect">
            <a:avLst>
              <a:gd name="adj" fmla="val 3158"/>
            </a:avLst>
          </a:prstGeom>
          <a:solidFill>
            <a:srgbClr val="F3EDE0"/>
          </a:solidFill>
          <a:ln w="12700">
            <a:solidFill>
              <a:srgbClr val="E6DCC4"/>
            </a:solidFill>
            <a:prstDash val="solid"/>
          </a:ln>
        </p:spPr>
      </p:sp>
      <p:sp>
        <p:nvSpPr>
          <p:cNvPr id="23" name="Text 21"/>
          <p:cNvSpPr txBox="1"/>
          <p:nvPr/>
        </p:nvSpPr>
        <p:spPr>
          <a:xfrm>
            <a:off x="6592824" y="4315968"/>
            <a:ext cx="4837176" cy="310896"/>
          </a:xfrm>
          <a:prstGeom prst="rect">
            <a:avLst/>
          </a:prstGeom>
          <a:noFill/>
          <a:ln/>
        </p:spPr>
        <p:txBody>
          <a:bodyPr wrap="square" lIns="0" tIns="0" rIns="0" bIns="0" rtlCol="0" anchor="ctr"/>
          <a:lstStyle/>
          <a:p>
            <a:pPr indent="0" marL="0">
              <a:buNone/>
            </a:pPr>
            <a:endParaRPr lang="en-US" sz="1600" dirty="0"/>
          </a:p>
        </p:txBody>
      </p:sp>
      <p:sp>
        <p:nvSpPr>
          <p:cNvPr id="24" name="Shape 22"/>
          <p:cNvSpPr/>
          <p:nvPr/>
        </p:nvSpPr>
        <p:spPr>
          <a:xfrm>
            <a:off x="6611112" y="4370832"/>
            <a:ext cx="420624" cy="420624"/>
          </a:xfrm>
          <a:prstGeom prst="ellipse">
            <a:avLst/>
          </a:prstGeom>
          <a:solidFill>
            <a:srgbClr val="B8860B"/>
          </a:solidFill>
          <a:ln w="12700">
            <a:solidFill>
              <a:srgbClr val="B8860B"/>
            </a:solidFill>
            <a:prstDash val="solid"/>
          </a:ln>
        </p:spPr>
      </p:sp>
      <p:sp>
        <p:nvSpPr>
          <p:cNvPr id="25" name="Text 23"/>
          <p:cNvSpPr txBox="1"/>
          <p:nvPr/>
        </p:nvSpPr>
        <p:spPr>
          <a:xfrm>
            <a:off x="6611112" y="4370832"/>
            <a:ext cx="420624" cy="420624"/>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178040" y="4389120"/>
            <a:ext cx="4251960" cy="365760"/>
          </a:xfrm>
          <a:prstGeom prst="rect">
            <a:avLst/>
          </a:prstGeom>
          <a:noFill/>
          <a:ln/>
        </p:spPr>
        <p:txBody>
          <a:bodyPr wrap="square" lIns="0" tIns="0" rIns="0" bIns="0" rtlCol="0" anchor="ctr"/>
          <a:lstStyle/>
          <a:p>
            <a:pPr indent="0" marL="0">
              <a:buNone/>
            </a:pPr>
            <a:r>
              <a:rPr lang="en-US" sz="1700" b="1" dirty="0">
                <a:solidFill>
                  <a:srgbClr val="082F22"/>
                </a:solidFill>
                <a:latin typeface="Cambria" pitchFamily="34" charset="0"/>
                <a:ea typeface="Cambria" pitchFamily="34" charset="-122"/>
                <a:cs typeface="Cambria" pitchFamily="34" charset="-120"/>
              </a:rPr>
              <a:t>Valoriser la transmission</a:t>
            </a:r>
            <a:endParaRPr lang="en-US" sz="1700" dirty="0"/>
          </a:p>
        </p:txBody>
      </p:sp>
      <p:sp>
        <p:nvSpPr>
          <p:cNvPr id="27" name="Text 25"/>
          <p:cNvSpPr txBox="1"/>
          <p:nvPr/>
        </p:nvSpPr>
        <p:spPr>
          <a:xfrm>
            <a:off x="6611112" y="4901184"/>
            <a:ext cx="4800600" cy="786384"/>
          </a:xfrm>
          <a:prstGeom prst="rect">
            <a:avLst/>
          </a:prstGeom>
          <a:noFill/>
          <a:ln/>
        </p:spPr>
        <p:txBody>
          <a:bodyPr wrap="square" lIns="0" tIns="0" rIns="0" bIns="0" rtlCol="0" anchor="t"/>
          <a:lstStyle/>
          <a:p>
            <a:pPr indent="0" marL="0">
              <a:lnSpc>
                <a:spcPct val="116000"/>
              </a:lnSpc>
              <a:buNone/>
            </a:pPr>
            <a:r>
              <a:rPr lang="en-US" sz="1250" dirty="0">
                <a:solidFill>
                  <a:srgbClr val="4A443C"/>
                </a:solidFill>
                <a:latin typeface="Calibri" pitchFamily="34" charset="0"/>
                <a:ea typeface="Calibri" pitchFamily="34" charset="-122"/>
                <a:cs typeface="Calibri" pitchFamily="34" charset="-120"/>
              </a:rPr>
              <a:t>Préserver et diffuser ces savoirs au-delà des frontières géographiques, avec une réalisation soignée et durable.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FORMAT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Format &amp; ligne éditoriale</a:t>
            </a:r>
            <a:endParaRPr lang="en-US" sz="3800" dirty="0"/>
          </a:p>
        </p:txBody>
      </p:sp>
      <p:sp>
        <p:nvSpPr>
          <p:cNvPr id="4" name="Shape 2"/>
          <p:cNvSpPr/>
          <p:nvPr/>
        </p:nvSpPr>
        <p:spPr>
          <a:xfrm>
            <a:off x="685800" y="2057400"/>
            <a:ext cx="6858000" cy="475488"/>
          </a:xfrm>
          <a:prstGeom prst="rect">
            <a:avLst/>
          </a:prstGeom>
          <a:solidFill>
            <a:srgbClr val="F3EDE0"/>
          </a:solidFill>
          <a:ln w="12700">
            <a:solidFill>
              <a:srgbClr val="EDE4D0"/>
            </a:solidFill>
            <a:prstDash val="solid"/>
          </a:ln>
        </p:spPr>
      </p:sp>
      <p:sp>
        <p:nvSpPr>
          <p:cNvPr id="5" name="Text 3"/>
          <p:cNvSpPr txBox="1"/>
          <p:nvPr/>
        </p:nvSpPr>
        <p:spPr>
          <a:xfrm>
            <a:off x="905256" y="205740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Genre</a:t>
            </a:r>
            <a:endParaRPr lang="en-US" sz="1250" dirty="0"/>
          </a:p>
        </p:txBody>
      </p:sp>
      <p:sp>
        <p:nvSpPr>
          <p:cNvPr id="6" name="Text 4"/>
          <p:cNvSpPr txBox="1"/>
          <p:nvPr/>
        </p:nvSpPr>
        <p:spPr>
          <a:xfrm>
            <a:off x="2971800" y="205740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Documentaire-reportage</a:t>
            </a:r>
            <a:endParaRPr lang="en-US" sz="1250" dirty="0"/>
          </a:p>
        </p:txBody>
      </p:sp>
      <p:sp>
        <p:nvSpPr>
          <p:cNvPr id="7" name="Shape 5"/>
          <p:cNvSpPr/>
          <p:nvPr/>
        </p:nvSpPr>
        <p:spPr>
          <a:xfrm>
            <a:off x="685800" y="2606040"/>
            <a:ext cx="6858000" cy="475488"/>
          </a:xfrm>
          <a:prstGeom prst="rect">
            <a:avLst/>
          </a:prstGeom>
          <a:solidFill>
            <a:srgbClr val="FFFFFF"/>
          </a:solidFill>
          <a:ln w="12700">
            <a:solidFill>
              <a:srgbClr val="EDE4D0"/>
            </a:solidFill>
            <a:prstDash val="solid"/>
          </a:ln>
        </p:spPr>
      </p:sp>
      <p:sp>
        <p:nvSpPr>
          <p:cNvPr id="8" name="Text 6"/>
          <p:cNvSpPr txBox="1"/>
          <p:nvPr/>
        </p:nvSpPr>
        <p:spPr>
          <a:xfrm>
            <a:off x="905256" y="260604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Durée visée</a:t>
            </a:r>
            <a:endParaRPr lang="en-US" sz="1250" dirty="0"/>
          </a:p>
        </p:txBody>
      </p:sp>
      <p:sp>
        <p:nvSpPr>
          <p:cNvPr id="9" name="Text 7"/>
          <p:cNvSpPr txBox="1"/>
          <p:nvPr/>
        </p:nvSpPr>
        <p:spPr>
          <a:xfrm>
            <a:off x="2971800" y="260604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26 à 40 minutes, selon la matière recueillie</a:t>
            </a:r>
            <a:endParaRPr lang="en-US" sz="1250" dirty="0"/>
          </a:p>
        </p:txBody>
      </p:sp>
      <p:sp>
        <p:nvSpPr>
          <p:cNvPr id="10" name="Shape 8"/>
          <p:cNvSpPr/>
          <p:nvPr/>
        </p:nvSpPr>
        <p:spPr>
          <a:xfrm>
            <a:off x="685800" y="3154680"/>
            <a:ext cx="6858000" cy="475488"/>
          </a:xfrm>
          <a:prstGeom prst="rect">
            <a:avLst/>
          </a:prstGeom>
          <a:solidFill>
            <a:srgbClr val="F3EDE0"/>
          </a:solidFill>
          <a:ln w="12700">
            <a:solidFill>
              <a:srgbClr val="EDE4D0"/>
            </a:solidFill>
            <a:prstDash val="solid"/>
          </a:ln>
        </p:spPr>
      </p:sp>
      <p:sp>
        <p:nvSpPr>
          <p:cNvPr id="11" name="Text 9"/>
          <p:cNvSpPr txBox="1"/>
          <p:nvPr/>
        </p:nvSpPr>
        <p:spPr>
          <a:xfrm>
            <a:off x="905256" y="315468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Intervenants</a:t>
            </a:r>
            <a:endParaRPr lang="en-US" sz="1250" dirty="0"/>
          </a:p>
        </p:txBody>
      </p:sp>
      <p:sp>
        <p:nvSpPr>
          <p:cNvPr id="12" name="Text 10"/>
          <p:cNvSpPr txBox="1"/>
          <p:nvPr/>
        </p:nvSpPr>
        <p:spPr>
          <a:xfrm>
            <a:off x="2971800" y="315468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Guides religieux, érudits et fidèles</a:t>
            </a:r>
            <a:endParaRPr lang="en-US" sz="1250" dirty="0"/>
          </a:p>
        </p:txBody>
      </p:sp>
      <p:sp>
        <p:nvSpPr>
          <p:cNvPr id="13" name="Shape 11"/>
          <p:cNvSpPr/>
          <p:nvPr/>
        </p:nvSpPr>
        <p:spPr>
          <a:xfrm>
            <a:off x="685800" y="3703320"/>
            <a:ext cx="6858000" cy="475488"/>
          </a:xfrm>
          <a:prstGeom prst="rect">
            <a:avLst/>
          </a:prstGeom>
          <a:solidFill>
            <a:srgbClr val="FFFFFF"/>
          </a:solidFill>
          <a:ln w="12700">
            <a:solidFill>
              <a:srgbClr val="EDE4D0"/>
            </a:solidFill>
            <a:prstDash val="solid"/>
          </a:ln>
        </p:spPr>
      </p:sp>
      <p:sp>
        <p:nvSpPr>
          <p:cNvPr id="14" name="Text 12"/>
          <p:cNvSpPr txBox="1"/>
          <p:nvPr/>
        </p:nvSpPr>
        <p:spPr>
          <a:xfrm>
            <a:off x="905256" y="370332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Langues</a:t>
            </a:r>
            <a:endParaRPr lang="en-US" sz="1250" dirty="0"/>
          </a:p>
        </p:txBody>
      </p:sp>
      <p:sp>
        <p:nvSpPr>
          <p:cNvPr id="15" name="Text 13"/>
          <p:cNvSpPr txBox="1"/>
          <p:nvPr/>
        </p:nvSpPr>
        <p:spPr>
          <a:xfrm>
            <a:off x="2971800" y="370332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Wolof, français et arabe, selon les intervenants</a:t>
            </a:r>
            <a:endParaRPr lang="en-US" sz="1250" dirty="0"/>
          </a:p>
        </p:txBody>
      </p:sp>
      <p:sp>
        <p:nvSpPr>
          <p:cNvPr id="16" name="Shape 14"/>
          <p:cNvSpPr/>
          <p:nvPr/>
        </p:nvSpPr>
        <p:spPr>
          <a:xfrm>
            <a:off x="685800" y="4251960"/>
            <a:ext cx="6858000" cy="475488"/>
          </a:xfrm>
          <a:prstGeom prst="rect">
            <a:avLst/>
          </a:prstGeom>
          <a:solidFill>
            <a:srgbClr val="F3EDE0"/>
          </a:solidFill>
          <a:ln w="12700">
            <a:solidFill>
              <a:srgbClr val="EDE4D0"/>
            </a:solidFill>
            <a:prstDash val="solid"/>
          </a:ln>
        </p:spPr>
      </p:sp>
      <p:sp>
        <p:nvSpPr>
          <p:cNvPr id="17" name="Text 15"/>
          <p:cNvSpPr txBox="1"/>
          <p:nvPr/>
        </p:nvSpPr>
        <p:spPr>
          <a:xfrm>
            <a:off x="905256" y="425196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Sous-titrage</a:t>
            </a:r>
            <a:endParaRPr lang="en-US" sz="1250" dirty="0"/>
          </a:p>
        </p:txBody>
      </p:sp>
      <p:sp>
        <p:nvSpPr>
          <p:cNvPr id="18" name="Text 16"/>
          <p:cNvSpPr txBox="1"/>
          <p:nvPr/>
        </p:nvSpPr>
        <p:spPr>
          <a:xfrm>
            <a:off x="2971800" y="425196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Français et anglais, pour la diaspora</a:t>
            </a:r>
            <a:endParaRPr lang="en-US" sz="1250" dirty="0"/>
          </a:p>
        </p:txBody>
      </p:sp>
      <p:sp>
        <p:nvSpPr>
          <p:cNvPr id="19" name="Shape 17"/>
          <p:cNvSpPr/>
          <p:nvPr/>
        </p:nvSpPr>
        <p:spPr>
          <a:xfrm>
            <a:off x="685800" y="4800600"/>
            <a:ext cx="6858000" cy="475488"/>
          </a:xfrm>
          <a:prstGeom prst="rect">
            <a:avLst/>
          </a:prstGeom>
          <a:solidFill>
            <a:srgbClr val="FFFFFF"/>
          </a:solidFill>
          <a:ln w="12700">
            <a:solidFill>
              <a:srgbClr val="EDE4D0"/>
            </a:solidFill>
            <a:prstDash val="solid"/>
          </a:ln>
        </p:spPr>
      </p:sp>
      <p:sp>
        <p:nvSpPr>
          <p:cNvPr id="20" name="Text 18"/>
          <p:cNvSpPr txBox="1"/>
          <p:nvPr/>
        </p:nvSpPr>
        <p:spPr>
          <a:xfrm>
            <a:off x="905256" y="480060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Zone de tournage</a:t>
            </a:r>
            <a:endParaRPr lang="en-US" sz="1250" dirty="0"/>
          </a:p>
        </p:txBody>
      </p:sp>
      <p:sp>
        <p:nvSpPr>
          <p:cNvPr id="21" name="Text 19"/>
          <p:cNvSpPr txBox="1"/>
          <p:nvPr/>
        </p:nvSpPr>
        <p:spPr>
          <a:xfrm>
            <a:off x="2971800" y="480060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Touba pour la Journée, puis plusieurs villes</a:t>
            </a:r>
            <a:endParaRPr lang="en-US" sz="1250" dirty="0"/>
          </a:p>
        </p:txBody>
      </p:sp>
      <p:sp>
        <p:nvSpPr>
          <p:cNvPr id="22" name="Shape 20"/>
          <p:cNvSpPr/>
          <p:nvPr/>
        </p:nvSpPr>
        <p:spPr>
          <a:xfrm>
            <a:off x="685800" y="5349240"/>
            <a:ext cx="6858000" cy="475488"/>
          </a:xfrm>
          <a:prstGeom prst="rect">
            <a:avLst/>
          </a:prstGeom>
          <a:solidFill>
            <a:srgbClr val="F3EDE0"/>
          </a:solidFill>
          <a:ln w="12700">
            <a:solidFill>
              <a:srgbClr val="EDE4D0"/>
            </a:solidFill>
            <a:prstDash val="solid"/>
          </a:ln>
        </p:spPr>
      </p:sp>
      <p:sp>
        <p:nvSpPr>
          <p:cNvPr id="23" name="Text 21"/>
          <p:cNvSpPr txBox="1"/>
          <p:nvPr/>
        </p:nvSpPr>
        <p:spPr>
          <a:xfrm>
            <a:off x="905256" y="5349240"/>
            <a:ext cx="2011680" cy="475488"/>
          </a:xfrm>
          <a:prstGeom prst="rect">
            <a:avLst/>
          </a:prstGeom>
          <a:noFill/>
          <a:ln/>
        </p:spPr>
        <p:txBody>
          <a:bodyPr wrap="square" lIns="0" tIns="0" rIns="0" bIns="0" rtlCol="0" anchor="ctr"/>
          <a:lstStyle/>
          <a:p>
            <a:pPr indent="0" marL="0">
              <a:buNone/>
            </a:pPr>
            <a:r>
              <a:rPr lang="en-US" sz="1250" b="1" dirty="0">
                <a:solidFill>
                  <a:srgbClr val="082F22"/>
                </a:solidFill>
                <a:latin typeface="Calibri" pitchFamily="34" charset="0"/>
                <a:ea typeface="Calibri" pitchFamily="34" charset="-122"/>
                <a:cs typeface="Calibri" pitchFamily="34" charset="-120"/>
              </a:rPr>
              <a:t>Diffusion</a:t>
            </a:r>
            <a:endParaRPr lang="en-US" sz="1250" dirty="0"/>
          </a:p>
        </p:txBody>
      </p:sp>
      <p:sp>
        <p:nvSpPr>
          <p:cNvPr id="24" name="Text 22"/>
          <p:cNvSpPr txBox="1"/>
          <p:nvPr/>
        </p:nvSpPr>
        <p:spPr>
          <a:xfrm>
            <a:off x="2971800" y="5349240"/>
            <a:ext cx="4389120" cy="475488"/>
          </a:xfrm>
          <a:prstGeom prst="rect">
            <a:avLst/>
          </a:prstGeom>
          <a:noFill/>
          <a:ln/>
        </p:spPr>
        <p:txBody>
          <a:bodyPr wrap="square" lIns="0" tIns="0" rIns="0" bIns="0" rtlCol="0" anchor="ctr"/>
          <a:lstStyle/>
          <a:p>
            <a:pPr indent="0" marL="0">
              <a:buNone/>
            </a:pPr>
            <a:r>
              <a:rPr lang="en-US" sz="1250" dirty="0">
                <a:solidFill>
                  <a:srgbClr val="4A443C"/>
                </a:solidFill>
                <a:latin typeface="Calibri" pitchFamily="34" charset="0"/>
                <a:ea typeface="Calibri" pitchFamily="34" charset="-122"/>
                <a:cs typeface="Calibri" pitchFamily="34" charset="-120"/>
              </a:rPr>
              <a:t>YouTube, réseaux sociaux, télévision, projections</a:t>
            </a:r>
            <a:endParaRPr lang="en-US" sz="1250" dirty="0"/>
          </a:p>
        </p:txBody>
      </p:sp>
      <p:sp>
        <p:nvSpPr>
          <p:cNvPr id="25" name="Shape 23"/>
          <p:cNvSpPr/>
          <p:nvPr/>
        </p:nvSpPr>
        <p:spPr>
          <a:xfrm>
            <a:off x="7909560" y="2057400"/>
            <a:ext cx="3596335" cy="3840480"/>
          </a:xfrm>
          <a:prstGeom prst="roundRect">
            <a:avLst>
              <a:gd name="adj" fmla="val 1526"/>
            </a:avLst>
          </a:prstGeom>
          <a:solidFill>
            <a:srgbClr val="082F22"/>
          </a:solidFill>
          <a:ln w="12700">
            <a:solidFill>
              <a:srgbClr val="082F22"/>
            </a:solidFill>
            <a:prstDash val="solid"/>
          </a:ln>
        </p:spPr>
      </p:sp>
      <p:sp>
        <p:nvSpPr>
          <p:cNvPr id="26" name="Text 24"/>
          <p:cNvSpPr txBox="1"/>
          <p:nvPr/>
        </p:nvSpPr>
        <p:spPr>
          <a:xfrm>
            <a:off x="8183880" y="2295144"/>
            <a:ext cx="2743200" cy="256032"/>
          </a:xfrm>
          <a:prstGeom prst="rect">
            <a:avLst/>
          </a:prstGeom>
          <a:noFill/>
          <a:ln/>
        </p:spPr>
        <p:txBody>
          <a:bodyPr wrap="square" lIns="0" tIns="0" rIns="0" bIns="0" rtlCol="0" anchor="ctr"/>
          <a:lstStyle/>
          <a:p>
            <a:pPr indent="0" marL="0">
              <a:buNone/>
            </a:pPr>
            <a:r>
              <a:rPr lang="en-US" sz="1100" b="1" spc="240" kern="0" dirty="0">
                <a:solidFill>
                  <a:srgbClr val="D4AF37"/>
                </a:solidFill>
                <a:latin typeface="Calibri" pitchFamily="34" charset="0"/>
                <a:ea typeface="Calibri" pitchFamily="34" charset="-122"/>
                <a:cs typeface="Calibri" pitchFamily="34" charset="-120"/>
              </a:rPr>
              <a:t>LE TON</a:t>
            </a:r>
            <a:endParaRPr lang="en-US" sz="1100" dirty="0"/>
          </a:p>
        </p:txBody>
      </p:sp>
      <p:sp>
        <p:nvSpPr>
          <p:cNvPr id="27" name="Text 25"/>
          <p:cNvSpPr txBox="1"/>
          <p:nvPr/>
        </p:nvSpPr>
        <p:spPr>
          <a:xfrm>
            <a:off x="8183880" y="2642616"/>
            <a:ext cx="3047695" cy="3017520"/>
          </a:xfrm>
          <a:prstGeom prst="rect">
            <a:avLst/>
          </a:prstGeom>
          <a:noFill/>
          <a:ln/>
        </p:spPr>
        <p:txBody>
          <a:bodyPr wrap="square" lIns="0" tIns="0" rIns="0" bIns="0" rtlCol="0" anchor="t"/>
          <a:lstStyle/>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Une réalisation sobre, immersive et respectueuse du caractère spirituel du sujet.</a:t>
            </a:r>
            <a:endParaRPr lang="en-US" sz="1300" dirty="0"/>
          </a:p>
          <a:p>
            <a:pPr indent="0" marL="0">
              <a:lnSpc>
                <a:spcPct val="122000"/>
              </a:lnSpc>
              <a:buNone/>
            </a:pPr>
            <a:endParaRPr lang="en-US" sz="1300" dirty="0"/>
          </a:p>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Les entretiens constituent le cœur du récit ; les images d'illustration et les séquences d'ambiance les relient.</a:t>
            </a:r>
            <a:endParaRPr lang="en-US" sz="1300" dirty="0"/>
          </a:p>
          <a:p>
            <a:pPr indent="0" marL="0">
              <a:lnSpc>
                <a:spcPct val="122000"/>
              </a:lnSpc>
              <a:buNone/>
            </a:pPr>
            <a:endParaRPr lang="en-US" sz="1300" dirty="0"/>
          </a:p>
          <a:p>
            <a:pPr indent="0" marL="0">
              <a:lnSpc>
                <a:spcPct val="122000"/>
              </a:lnSpc>
              <a:buNone/>
            </a:pPr>
            <a:r>
              <a:rPr lang="en-US" sz="1300" dirty="0">
                <a:solidFill>
                  <a:srgbClr val="D8E4DB"/>
                </a:solidFill>
                <a:latin typeface="Calibri" pitchFamily="34" charset="0"/>
                <a:ea typeface="Calibri" pitchFamily="34" charset="-122"/>
                <a:cs typeface="Calibri" pitchFamily="34" charset="-120"/>
              </a:rPr>
              <a:t>L'étalonnage et l'habillage graphique restent chaleureux et contemplatifs — jamais spectaculaires.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LIVRABLES</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Ce qui sera livré</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Le financement ne produit pas seulement un film : il produit un ensemble de contenus réutilisables par la Dahira tout au long de l'année.</a:t>
            </a:r>
            <a:endParaRPr lang="en-US" sz="1500" dirty="0"/>
          </a:p>
        </p:txBody>
      </p:sp>
      <p:sp>
        <p:nvSpPr>
          <p:cNvPr id="5" name="Shape 3"/>
          <p:cNvSpPr/>
          <p:nvPr/>
        </p:nvSpPr>
        <p:spPr>
          <a:xfrm>
            <a:off x="685800" y="2286000"/>
            <a:ext cx="2093976" cy="3017520"/>
          </a:xfrm>
          <a:prstGeom prst="roundRect">
            <a:avLst>
              <a:gd name="adj" fmla="val 2620"/>
            </a:avLst>
          </a:prstGeom>
          <a:solidFill>
            <a:srgbClr val="F3EDE0"/>
          </a:solidFill>
          <a:ln w="12700">
            <a:solidFill>
              <a:srgbClr val="E6DCC4"/>
            </a:solidFill>
            <a:prstDash val="solid"/>
          </a:ln>
        </p:spPr>
      </p:sp>
      <p:sp>
        <p:nvSpPr>
          <p:cNvPr id="6" name="Shape 4"/>
          <p:cNvSpPr/>
          <p:nvPr/>
        </p:nvSpPr>
        <p:spPr>
          <a:xfrm>
            <a:off x="1504188" y="2606040"/>
            <a:ext cx="457200" cy="457200"/>
          </a:xfrm>
          <a:prstGeom prst="ellipse">
            <a:avLst/>
          </a:prstGeom>
          <a:solidFill>
            <a:srgbClr val="B8860B"/>
          </a:solidFill>
          <a:ln w="12700">
            <a:solidFill>
              <a:srgbClr val="B8860B"/>
            </a:solidFill>
            <a:prstDash val="solid"/>
          </a:ln>
        </p:spPr>
      </p:sp>
      <p:sp>
        <p:nvSpPr>
          <p:cNvPr id="7" name="Text 5"/>
          <p:cNvSpPr txBox="1"/>
          <p:nvPr/>
        </p:nvSpPr>
        <p:spPr>
          <a:xfrm>
            <a:off x="1504188"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50392"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Documentaire</a:t>
            </a:r>
            <a:endParaRPr lang="en-US" sz="1500" dirty="0"/>
          </a:p>
        </p:txBody>
      </p:sp>
      <p:sp>
        <p:nvSpPr>
          <p:cNvPr id="9" name="Text 7"/>
          <p:cNvSpPr txBox="1"/>
          <p:nvPr/>
        </p:nvSpPr>
        <p:spPr>
          <a:xfrm>
            <a:off x="850392"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26–40 min</a:t>
            </a:r>
            <a:endParaRPr lang="en-US" sz="1250" dirty="0"/>
          </a:p>
        </p:txBody>
      </p:sp>
      <p:sp>
        <p:nvSpPr>
          <p:cNvPr id="10" name="Text 8"/>
          <p:cNvSpPr txBox="1"/>
          <p:nvPr/>
        </p:nvSpPr>
        <p:spPr>
          <a:xfrm>
            <a:off x="850392"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Master HD, sous-titré français et anglais</a:t>
            </a:r>
            <a:endParaRPr lang="en-US" sz="1150" dirty="0"/>
          </a:p>
        </p:txBody>
      </p:sp>
      <p:sp>
        <p:nvSpPr>
          <p:cNvPr id="11" name="Shape 9"/>
          <p:cNvSpPr/>
          <p:nvPr/>
        </p:nvSpPr>
        <p:spPr>
          <a:xfrm>
            <a:off x="2999232" y="2286000"/>
            <a:ext cx="2093976" cy="3017520"/>
          </a:xfrm>
          <a:prstGeom prst="roundRect">
            <a:avLst>
              <a:gd name="adj" fmla="val 2620"/>
            </a:avLst>
          </a:prstGeom>
          <a:solidFill>
            <a:srgbClr val="F3EDE0"/>
          </a:solidFill>
          <a:ln w="12700">
            <a:solidFill>
              <a:srgbClr val="E6DCC4"/>
            </a:solidFill>
            <a:prstDash val="solid"/>
          </a:ln>
        </p:spPr>
      </p:sp>
      <p:sp>
        <p:nvSpPr>
          <p:cNvPr id="12" name="Shape 10"/>
          <p:cNvSpPr/>
          <p:nvPr/>
        </p:nvSpPr>
        <p:spPr>
          <a:xfrm>
            <a:off x="3817620" y="2606040"/>
            <a:ext cx="457200" cy="457200"/>
          </a:xfrm>
          <a:prstGeom prst="ellipse">
            <a:avLst/>
          </a:prstGeom>
          <a:solidFill>
            <a:srgbClr val="B8860B"/>
          </a:solidFill>
          <a:ln w="12700">
            <a:solidFill>
              <a:srgbClr val="B8860B"/>
            </a:solidFill>
            <a:prstDash val="solid"/>
          </a:ln>
        </p:spPr>
      </p:sp>
      <p:sp>
        <p:nvSpPr>
          <p:cNvPr id="13" name="Text 11"/>
          <p:cNvSpPr txBox="1"/>
          <p:nvPr/>
        </p:nvSpPr>
        <p:spPr>
          <a:xfrm>
            <a:off x="3817620"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3163824"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Capsules courtes</a:t>
            </a:r>
            <a:endParaRPr lang="en-US" sz="1500" dirty="0"/>
          </a:p>
        </p:txBody>
      </p:sp>
      <p:sp>
        <p:nvSpPr>
          <p:cNvPr id="15" name="Text 13"/>
          <p:cNvSpPr txBox="1"/>
          <p:nvPr/>
        </p:nvSpPr>
        <p:spPr>
          <a:xfrm>
            <a:off x="3163824"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3 à 5 × 60–90 s</a:t>
            </a:r>
            <a:endParaRPr lang="en-US" sz="1250" dirty="0"/>
          </a:p>
        </p:txBody>
      </p:sp>
      <p:sp>
        <p:nvSpPr>
          <p:cNvPr id="16" name="Text 14"/>
          <p:cNvSpPr txBox="1"/>
          <p:nvPr/>
        </p:nvSpPr>
        <p:spPr>
          <a:xfrm>
            <a:off x="3163824"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Format vertical pour les réseaux sociaux</a:t>
            </a:r>
            <a:endParaRPr lang="en-US" sz="1150" dirty="0"/>
          </a:p>
        </p:txBody>
      </p:sp>
      <p:sp>
        <p:nvSpPr>
          <p:cNvPr id="17" name="Shape 15"/>
          <p:cNvSpPr/>
          <p:nvPr/>
        </p:nvSpPr>
        <p:spPr>
          <a:xfrm>
            <a:off x="5312664" y="2286000"/>
            <a:ext cx="2093976" cy="3017520"/>
          </a:xfrm>
          <a:prstGeom prst="roundRect">
            <a:avLst>
              <a:gd name="adj" fmla="val 2620"/>
            </a:avLst>
          </a:prstGeom>
          <a:solidFill>
            <a:srgbClr val="F3EDE0"/>
          </a:solidFill>
          <a:ln w="12700">
            <a:solidFill>
              <a:srgbClr val="E6DCC4"/>
            </a:solidFill>
            <a:prstDash val="solid"/>
          </a:ln>
        </p:spPr>
      </p:sp>
      <p:sp>
        <p:nvSpPr>
          <p:cNvPr id="18" name="Shape 16"/>
          <p:cNvSpPr/>
          <p:nvPr/>
        </p:nvSpPr>
        <p:spPr>
          <a:xfrm>
            <a:off x="6131052" y="2606040"/>
            <a:ext cx="457200" cy="457200"/>
          </a:xfrm>
          <a:prstGeom prst="ellipse">
            <a:avLst/>
          </a:prstGeom>
          <a:solidFill>
            <a:srgbClr val="B8860B"/>
          </a:solidFill>
          <a:ln w="12700">
            <a:solidFill>
              <a:srgbClr val="B8860B"/>
            </a:solidFill>
            <a:prstDash val="solid"/>
          </a:ln>
        </p:spPr>
      </p:sp>
      <p:sp>
        <p:nvSpPr>
          <p:cNvPr id="19" name="Text 17"/>
          <p:cNvSpPr txBox="1"/>
          <p:nvPr/>
        </p:nvSpPr>
        <p:spPr>
          <a:xfrm>
            <a:off x="6131052"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5477256"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Aftermovie</a:t>
            </a:r>
            <a:endParaRPr lang="en-US" sz="1500" dirty="0"/>
          </a:p>
        </p:txBody>
      </p:sp>
      <p:sp>
        <p:nvSpPr>
          <p:cNvPr id="21" name="Text 19"/>
          <p:cNvSpPr txBox="1"/>
          <p:nvPr/>
        </p:nvSpPr>
        <p:spPr>
          <a:xfrm>
            <a:off x="5477256"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3–5 min</a:t>
            </a:r>
            <a:endParaRPr lang="en-US" sz="1250" dirty="0"/>
          </a:p>
        </p:txBody>
      </p:sp>
      <p:sp>
        <p:nvSpPr>
          <p:cNvPr id="22" name="Text 20"/>
          <p:cNvSpPr txBox="1"/>
          <p:nvPr/>
        </p:nvSpPr>
        <p:spPr>
          <a:xfrm>
            <a:off x="5477256"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Résumé de la Journée du 26 décembre</a:t>
            </a:r>
            <a:endParaRPr lang="en-US" sz="1150" dirty="0"/>
          </a:p>
        </p:txBody>
      </p:sp>
      <p:sp>
        <p:nvSpPr>
          <p:cNvPr id="23" name="Shape 21"/>
          <p:cNvSpPr/>
          <p:nvPr/>
        </p:nvSpPr>
        <p:spPr>
          <a:xfrm>
            <a:off x="7626096" y="2286000"/>
            <a:ext cx="2093976" cy="3017520"/>
          </a:xfrm>
          <a:prstGeom prst="roundRect">
            <a:avLst>
              <a:gd name="adj" fmla="val 2620"/>
            </a:avLst>
          </a:prstGeom>
          <a:solidFill>
            <a:srgbClr val="F3EDE0"/>
          </a:solidFill>
          <a:ln w="12700">
            <a:solidFill>
              <a:srgbClr val="E6DCC4"/>
            </a:solidFill>
            <a:prstDash val="solid"/>
          </a:ln>
        </p:spPr>
      </p:sp>
      <p:sp>
        <p:nvSpPr>
          <p:cNvPr id="24" name="Shape 22"/>
          <p:cNvSpPr/>
          <p:nvPr/>
        </p:nvSpPr>
        <p:spPr>
          <a:xfrm>
            <a:off x="8444484" y="2606040"/>
            <a:ext cx="457200" cy="457200"/>
          </a:xfrm>
          <a:prstGeom prst="ellipse">
            <a:avLst/>
          </a:prstGeom>
          <a:solidFill>
            <a:srgbClr val="B8860B"/>
          </a:solidFill>
          <a:ln w="12700">
            <a:solidFill>
              <a:srgbClr val="B8860B"/>
            </a:solidFill>
            <a:prstDash val="solid"/>
          </a:ln>
        </p:spPr>
      </p:sp>
      <p:sp>
        <p:nvSpPr>
          <p:cNvPr id="25" name="Text 23"/>
          <p:cNvSpPr txBox="1"/>
          <p:nvPr/>
        </p:nvSpPr>
        <p:spPr>
          <a:xfrm>
            <a:off x="8444484"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7790688"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Bande-annonce</a:t>
            </a:r>
            <a:endParaRPr lang="en-US" sz="1500" dirty="0"/>
          </a:p>
        </p:txBody>
      </p:sp>
      <p:sp>
        <p:nvSpPr>
          <p:cNvPr id="27" name="Text 25"/>
          <p:cNvSpPr txBox="1"/>
          <p:nvPr/>
        </p:nvSpPr>
        <p:spPr>
          <a:xfrm>
            <a:off x="7790688"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1 × 60 s</a:t>
            </a:r>
            <a:endParaRPr lang="en-US" sz="1250" dirty="0"/>
          </a:p>
        </p:txBody>
      </p:sp>
      <p:sp>
        <p:nvSpPr>
          <p:cNvPr id="28" name="Text 26"/>
          <p:cNvSpPr txBox="1"/>
          <p:nvPr/>
        </p:nvSpPr>
        <p:spPr>
          <a:xfrm>
            <a:off x="7790688"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Pour l'annonce de la sortie du film</a:t>
            </a:r>
            <a:endParaRPr lang="en-US" sz="1150" dirty="0"/>
          </a:p>
        </p:txBody>
      </p:sp>
      <p:sp>
        <p:nvSpPr>
          <p:cNvPr id="29" name="Shape 27"/>
          <p:cNvSpPr/>
          <p:nvPr/>
        </p:nvSpPr>
        <p:spPr>
          <a:xfrm>
            <a:off x="9939528" y="2286000"/>
            <a:ext cx="2093976" cy="3017520"/>
          </a:xfrm>
          <a:prstGeom prst="roundRect">
            <a:avLst>
              <a:gd name="adj" fmla="val 2620"/>
            </a:avLst>
          </a:prstGeom>
          <a:solidFill>
            <a:srgbClr val="F3EDE0"/>
          </a:solidFill>
          <a:ln w="12700">
            <a:solidFill>
              <a:srgbClr val="E6DCC4"/>
            </a:solidFill>
            <a:prstDash val="solid"/>
          </a:ln>
        </p:spPr>
      </p:sp>
      <p:sp>
        <p:nvSpPr>
          <p:cNvPr id="30" name="Shape 28"/>
          <p:cNvSpPr/>
          <p:nvPr/>
        </p:nvSpPr>
        <p:spPr>
          <a:xfrm>
            <a:off x="10757916" y="2606040"/>
            <a:ext cx="457200" cy="457200"/>
          </a:xfrm>
          <a:prstGeom prst="ellipse">
            <a:avLst/>
          </a:prstGeom>
          <a:solidFill>
            <a:srgbClr val="B8860B"/>
          </a:solidFill>
          <a:ln w="12700">
            <a:solidFill>
              <a:srgbClr val="B8860B"/>
            </a:solidFill>
            <a:prstDash val="solid"/>
          </a:ln>
        </p:spPr>
      </p:sp>
      <p:sp>
        <p:nvSpPr>
          <p:cNvPr id="31" name="Text 29"/>
          <p:cNvSpPr txBox="1"/>
          <p:nvPr/>
        </p:nvSpPr>
        <p:spPr>
          <a:xfrm>
            <a:off x="10757916" y="2606040"/>
            <a:ext cx="457200" cy="457200"/>
          </a:xfrm>
          <a:prstGeom prst="rect">
            <a:avLst/>
          </a:prstGeom>
          <a:noFill/>
          <a:ln/>
        </p:spPr>
        <p:txBody>
          <a:bodyPr wrap="square" lIns="0" tIns="0" rIns="0" bIns="0" rtlCol="0" anchor="ctr"/>
          <a:lstStyle/>
          <a:p>
            <a:pPr algn="ctr" indent="0" marL="0">
              <a:buNone/>
            </a:pPr>
            <a:r>
              <a:rPr lang="en-US" sz="1300" b="1" dirty="0">
                <a:solidFill>
                  <a:srgbClr val="082F22"/>
                </a:solidFill>
                <a:latin typeface="Calibri" pitchFamily="34" charset="0"/>
                <a:ea typeface="Calibri" pitchFamily="34" charset="-122"/>
                <a:cs typeface="Calibri" pitchFamily="34" charset="-120"/>
              </a:rPr>
              <a:t>5</a:t>
            </a:r>
            <a:endParaRPr lang="en-US" sz="1300" dirty="0"/>
          </a:p>
        </p:txBody>
      </p:sp>
      <p:sp>
        <p:nvSpPr>
          <p:cNvPr id="32" name="Text 30"/>
          <p:cNvSpPr txBox="1"/>
          <p:nvPr/>
        </p:nvSpPr>
        <p:spPr>
          <a:xfrm>
            <a:off x="10104120" y="3291840"/>
            <a:ext cx="1764792" cy="548640"/>
          </a:xfrm>
          <a:prstGeom prst="rect">
            <a:avLst/>
          </a:prstGeom>
          <a:noFill/>
          <a:ln/>
        </p:spPr>
        <p:txBody>
          <a:bodyPr wrap="square" lIns="0" tIns="0" rIns="0" bIns="0" rtlCol="0" anchor="ctr"/>
          <a:lstStyle/>
          <a:p>
            <a:pPr algn="ctr" indent="0" marL="0">
              <a:buNone/>
            </a:pPr>
            <a:r>
              <a:rPr lang="en-US" sz="1500" b="1" dirty="0">
                <a:solidFill>
                  <a:srgbClr val="082F22"/>
                </a:solidFill>
                <a:latin typeface="Cambria" pitchFamily="34" charset="0"/>
                <a:ea typeface="Cambria" pitchFamily="34" charset="-122"/>
                <a:cs typeface="Cambria" pitchFamily="34" charset="-120"/>
              </a:rPr>
              <a:t>Photographies</a:t>
            </a:r>
            <a:endParaRPr lang="en-US" sz="1500" dirty="0"/>
          </a:p>
        </p:txBody>
      </p:sp>
      <p:sp>
        <p:nvSpPr>
          <p:cNvPr id="33" name="Text 31"/>
          <p:cNvSpPr txBox="1"/>
          <p:nvPr/>
        </p:nvSpPr>
        <p:spPr>
          <a:xfrm>
            <a:off x="10104120" y="3886200"/>
            <a:ext cx="1764792" cy="310896"/>
          </a:xfrm>
          <a:prstGeom prst="rect">
            <a:avLst/>
          </a:prstGeom>
          <a:noFill/>
          <a:ln/>
        </p:spPr>
        <p:txBody>
          <a:bodyPr wrap="square" lIns="0" tIns="0" rIns="0" bIns="0" rtlCol="0" anchor="ctr"/>
          <a:lstStyle/>
          <a:p>
            <a:pPr algn="ctr" indent="0" marL="0">
              <a:buNone/>
            </a:pPr>
            <a:r>
              <a:rPr lang="en-US" sz="1250" b="1" dirty="0">
                <a:solidFill>
                  <a:srgbClr val="B8860B"/>
                </a:solidFill>
                <a:latin typeface="Calibri" pitchFamily="34" charset="0"/>
                <a:ea typeface="Calibri" pitchFamily="34" charset="-122"/>
                <a:cs typeface="Calibri" pitchFamily="34" charset="-120"/>
              </a:rPr>
              <a:t>50 à 80 images</a:t>
            </a:r>
            <a:endParaRPr lang="en-US" sz="1250" dirty="0"/>
          </a:p>
        </p:txBody>
      </p:sp>
      <p:sp>
        <p:nvSpPr>
          <p:cNvPr id="34" name="Text 32"/>
          <p:cNvSpPr txBox="1"/>
          <p:nvPr/>
        </p:nvSpPr>
        <p:spPr>
          <a:xfrm>
            <a:off x="10104120" y="4279392"/>
            <a:ext cx="1764792" cy="82296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Sélection HD, libres d'usage pour la Dahira</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PRODUCTION</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Organisation de la production</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Quatre phases séquentielles, chacune conditionnant la suivante. La préproduction est déterminante : c'est elle qui fixe la qualité et la faisabilité de l'ensemble.</a:t>
            </a:r>
            <a:endParaRPr lang="en-US" sz="1500" dirty="0"/>
          </a:p>
        </p:txBody>
      </p:sp>
      <p:sp>
        <p:nvSpPr>
          <p:cNvPr id="5" name="Shape 3"/>
          <p:cNvSpPr/>
          <p:nvPr/>
        </p:nvSpPr>
        <p:spPr>
          <a:xfrm>
            <a:off x="685800" y="2377440"/>
            <a:ext cx="2615184" cy="3108960"/>
          </a:xfrm>
          <a:prstGeom prst="roundRect">
            <a:avLst>
              <a:gd name="adj" fmla="val 2098"/>
            </a:avLst>
          </a:prstGeom>
          <a:solidFill>
            <a:srgbClr val="082F22"/>
          </a:solidFill>
          <a:ln w="12700">
            <a:solidFill>
              <a:srgbClr val="082F22"/>
            </a:solidFill>
            <a:prstDash val="solid"/>
          </a:ln>
        </p:spPr>
      </p:sp>
      <p:sp>
        <p:nvSpPr>
          <p:cNvPr id="6" name="Shape 4"/>
          <p:cNvSpPr/>
          <p:nvPr/>
        </p:nvSpPr>
        <p:spPr>
          <a:xfrm>
            <a:off x="923544" y="2633472"/>
            <a:ext cx="457200" cy="457200"/>
          </a:xfrm>
          <a:prstGeom prst="ellipse">
            <a:avLst/>
          </a:prstGeom>
          <a:solidFill>
            <a:srgbClr val="D4AF37"/>
          </a:solidFill>
          <a:ln w="12700">
            <a:solidFill>
              <a:srgbClr val="D4AF37"/>
            </a:solidFill>
            <a:prstDash val="solid"/>
          </a:ln>
        </p:spPr>
      </p:sp>
      <p:sp>
        <p:nvSpPr>
          <p:cNvPr id="7" name="Text 5"/>
          <p:cNvSpPr txBox="1"/>
          <p:nvPr/>
        </p:nvSpPr>
        <p:spPr>
          <a:xfrm>
            <a:off x="923544"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923544" y="3236976"/>
            <a:ext cx="2139696"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Préproduction</a:t>
            </a:r>
            <a:endParaRPr lang="en-US" sz="1600" dirty="0"/>
          </a:p>
        </p:txBody>
      </p:sp>
      <p:sp>
        <p:nvSpPr>
          <p:cNvPr id="9" name="Text 7"/>
          <p:cNvSpPr txBox="1"/>
          <p:nvPr/>
        </p:nvSpPr>
        <p:spPr>
          <a:xfrm>
            <a:off x="923544"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D8E4DB"/>
                </a:solidFill>
                <a:latin typeface="Calibri" pitchFamily="34" charset="0"/>
                <a:ea typeface="Calibri" pitchFamily="34" charset="-122"/>
                <a:cs typeface="Calibri" pitchFamily="34" charset="-120"/>
              </a:rPr>
              <a:t>Identification et prise de contact avec les intervenants, préparation des entretiens, organisation des déplacements.</a:t>
            </a:r>
            <a:endParaRPr lang="en-US" sz="1200" dirty="0"/>
          </a:p>
        </p:txBody>
      </p:sp>
      <p:sp>
        <p:nvSpPr>
          <p:cNvPr id="10" name="Shape 8"/>
          <p:cNvSpPr/>
          <p:nvPr/>
        </p:nvSpPr>
        <p:spPr>
          <a:xfrm>
            <a:off x="3557016" y="2377440"/>
            <a:ext cx="2615184" cy="3108960"/>
          </a:xfrm>
          <a:prstGeom prst="roundRect">
            <a:avLst>
              <a:gd name="adj" fmla="val 2098"/>
            </a:avLst>
          </a:prstGeom>
          <a:solidFill>
            <a:srgbClr val="F3EDE0"/>
          </a:solidFill>
          <a:ln w="12700">
            <a:solidFill>
              <a:srgbClr val="E6DCC4"/>
            </a:solidFill>
            <a:prstDash val="solid"/>
          </a:ln>
        </p:spPr>
      </p:sp>
      <p:sp>
        <p:nvSpPr>
          <p:cNvPr id="11" name="Shape 9"/>
          <p:cNvSpPr/>
          <p:nvPr/>
        </p:nvSpPr>
        <p:spPr>
          <a:xfrm>
            <a:off x="3794760" y="2633472"/>
            <a:ext cx="457200" cy="457200"/>
          </a:xfrm>
          <a:prstGeom prst="ellipse">
            <a:avLst/>
          </a:prstGeom>
          <a:solidFill>
            <a:srgbClr val="B8860B"/>
          </a:solidFill>
          <a:ln w="12700">
            <a:solidFill>
              <a:srgbClr val="B8860B"/>
            </a:solidFill>
            <a:prstDash val="solid"/>
          </a:ln>
        </p:spPr>
      </p:sp>
      <p:sp>
        <p:nvSpPr>
          <p:cNvPr id="12" name="Text 10"/>
          <p:cNvSpPr txBox="1"/>
          <p:nvPr/>
        </p:nvSpPr>
        <p:spPr>
          <a:xfrm>
            <a:off x="3794760"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3794760"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Tournage</a:t>
            </a:r>
            <a:endParaRPr lang="en-US" sz="1600" dirty="0"/>
          </a:p>
        </p:txBody>
      </p:sp>
      <p:sp>
        <p:nvSpPr>
          <p:cNvPr id="14" name="Text 12"/>
          <p:cNvSpPr txBox="1"/>
          <p:nvPr/>
        </p:nvSpPr>
        <p:spPr>
          <a:xfrm>
            <a:off x="3794760"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Déplacements selon la localisation des intervenants, captation des entretiens et des images — dont la Journée du 26 décembre.</a:t>
            </a:r>
            <a:endParaRPr lang="en-US" sz="1200" dirty="0"/>
          </a:p>
        </p:txBody>
      </p:sp>
      <p:sp>
        <p:nvSpPr>
          <p:cNvPr id="15" name="Shape 13"/>
          <p:cNvSpPr/>
          <p:nvPr/>
        </p:nvSpPr>
        <p:spPr>
          <a:xfrm>
            <a:off x="6428232" y="2377440"/>
            <a:ext cx="2615184" cy="3108960"/>
          </a:xfrm>
          <a:prstGeom prst="roundRect">
            <a:avLst>
              <a:gd name="adj" fmla="val 2098"/>
            </a:avLst>
          </a:prstGeom>
          <a:solidFill>
            <a:srgbClr val="F3EDE0"/>
          </a:solidFill>
          <a:ln w="12700">
            <a:solidFill>
              <a:srgbClr val="E6DCC4"/>
            </a:solidFill>
            <a:prstDash val="solid"/>
          </a:ln>
        </p:spPr>
      </p:sp>
      <p:sp>
        <p:nvSpPr>
          <p:cNvPr id="16" name="Shape 14"/>
          <p:cNvSpPr/>
          <p:nvPr/>
        </p:nvSpPr>
        <p:spPr>
          <a:xfrm>
            <a:off x="6665976" y="2633472"/>
            <a:ext cx="457200" cy="457200"/>
          </a:xfrm>
          <a:prstGeom prst="ellipse">
            <a:avLst/>
          </a:prstGeom>
          <a:solidFill>
            <a:srgbClr val="B8860B"/>
          </a:solidFill>
          <a:ln w="12700">
            <a:solidFill>
              <a:srgbClr val="B8860B"/>
            </a:solidFill>
            <a:prstDash val="solid"/>
          </a:ln>
        </p:spPr>
      </p:sp>
      <p:sp>
        <p:nvSpPr>
          <p:cNvPr id="17" name="Text 15"/>
          <p:cNvSpPr txBox="1"/>
          <p:nvPr/>
        </p:nvSpPr>
        <p:spPr>
          <a:xfrm>
            <a:off x="6665976"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6665976"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Postproduction</a:t>
            </a:r>
            <a:endParaRPr lang="en-US" sz="1600" dirty="0"/>
          </a:p>
        </p:txBody>
      </p:sp>
      <p:sp>
        <p:nvSpPr>
          <p:cNvPr id="19" name="Text 17"/>
          <p:cNvSpPr txBox="1"/>
          <p:nvPr/>
        </p:nvSpPr>
        <p:spPr>
          <a:xfrm>
            <a:off x="6665976"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Dérushage, montage, traitement sonore, étalonnage, habillage graphique et sous-titrage.</a:t>
            </a:r>
            <a:endParaRPr lang="en-US" sz="1200" dirty="0"/>
          </a:p>
        </p:txBody>
      </p:sp>
      <p:sp>
        <p:nvSpPr>
          <p:cNvPr id="20" name="Shape 18"/>
          <p:cNvSpPr/>
          <p:nvPr/>
        </p:nvSpPr>
        <p:spPr>
          <a:xfrm>
            <a:off x="9299448" y="2377440"/>
            <a:ext cx="2615184" cy="3108960"/>
          </a:xfrm>
          <a:prstGeom prst="roundRect">
            <a:avLst>
              <a:gd name="adj" fmla="val 2098"/>
            </a:avLst>
          </a:prstGeom>
          <a:solidFill>
            <a:srgbClr val="F3EDE0"/>
          </a:solidFill>
          <a:ln w="12700">
            <a:solidFill>
              <a:srgbClr val="E6DCC4"/>
            </a:solidFill>
            <a:prstDash val="solid"/>
          </a:ln>
        </p:spPr>
      </p:sp>
      <p:sp>
        <p:nvSpPr>
          <p:cNvPr id="21" name="Shape 19"/>
          <p:cNvSpPr/>
          <p:nvPr/>
        </p:nvSpPr>
        <p:spPr>
          <a:xfrm>
            <a:off x="9537192" y="2633472"/>
            <a:ext cx="457200" cy="457200"/>
          </a:xfrm>
          <a:prstGeom prst="ellipse">
            <a:avLst/>
          </a:prstGeom>
          <a:solidFill>
            <a:srgbClr val="B8860B"/>
          </a:solidFill>
          <a:ln w="12700">
            <a:solidFill>
              <a:srgbClr val="B8860B"/>
            </a:solidFill>
            <a:prstDash val="solid"/>
          </a:ln>
        </p:spPr>
      </p:sp>
      <p:sp>
        <p:nvSpPr>
          <p:cNvPr id="22" name="Text 20"/>
          <p:cNvSpPr txBox="1"/>
          <p:nvPr/>
        </p:nvSpPr>
        <p:spPr>
          <a:xfrm>
            <a:off x="9537192" y="2633472"/>
            <a:ext cx="457200" cy="457200"/>
          </a:xfrm>
          <a:prstGeom prst="rect">
            <a:avLst/>
          </a:prstGeom>
          <a:noFill/>
          <a:ln/>
        </p:spPr>
        <p:txBody>
          <a:bodyPr wrap="square" lIns="0" tIns="0" rIns="0" bIns="0" rtlCol="0" anchor="ctr"/>
          <a:lstStyle/>
          <a:p>
            <a:pPr algn="ctr" indent="0" marL="0">
              <a:buNone/>
            </a:pPr>
            <a:r>
              <a:rPr lang="en-US" sz="1200" b="1" dirty="0">
                <a:solidFill>
                  <a:srgbClr val="082F22"/>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9537192" y="3236976"/>
            <a:ext cx="2139696" cy="365760"/>
          </a:xfrm>
          <a:prstGeom prst="rect">
            <a:avLst/>
          </a:prstGeom>
          <a:noFill/>
          <a:ln/>
        </p:spPr>
        <p:txBody>
          <a:bodyPr wrap="square" lIns="0" tIns="0" rIns="0" bIns="0" rtlCol="0" anchor="ctr"/>
          <a:lstStyle/>
          <a:p>
            <a:pPr indent="0" marL="0">
              <a:buNone/>
            </a:pPr>
            <a:r>
              <a:rPr lang="en-US" sz="1600" b="1" dirty="0">
                <a:solidFill>
                  <a:srgbClr val="082F22"/>
                </a:solidFill>
                <a:latin typeface="Cambria" pitchFamily="34" charset="0"/>
                <a:ea typeface="Cambria" pitchFamily="34" charset="-122"/>
                <a:cs typeface="Cambria" pitchFamily="34" charset="-120"/>
              </a:rPr>
              <a:t>Diffusion</a:t>
            </a:r>
            <a:endParaRPr lang="en-US" sz="1600" dirty="0"/>
          </a:p>
        </p:txBody>
      </p:sp>
      <p:sp>
        <p:nvSpPr>
          <p:cNvPr id="24" name="Text 22"/>
          <p:cNvSpPr txBox="1"/>
          <p:nvPr/>
        </p:nvSpPr>
        <p:spPr>
          <a:xfrm>
            <a:off x="9537192" y="3712464"/>
            <a:ext cx="2139696" cy="1554480"/>
          </a:xfrm>
          <a:prstGeom prst="rect">
            <a:avLst/>
          </a:prstGeom>
          <a:noFill/>
          <a:ln/>
        </p:spPr>
        <p:txBody>
          <a:bodyPr wrap="square" lIns="0" tIns="0" rIns="0" bIns="0" rtlCol="0" anchor="t"/>
          <a:lstStyle/>
          <a:p>
            <a:pPr indent="0" marL="0">
              <a:lnSpc>
                <a:spcPct val="116000"/>
              </a:lnSpc>
              <a:buNone/>
            </a:pPr>
            <a:r>
              <a:rPr lang="en-US" sz="1200" dirty="0">
                <a:solidFill>
                  <a:srgbClr val="4A443C"/>
                </a:solidFill>
                <a:latin typeface="Calibri" pitchFamily="34" charset="0"/>
                <a:ea typeface="Calibri" pitchFamily="34" charset="-122"/>
                <a:cs typeface="Calibri" pitchFamily="34" charset="-120"/>
              </a:rPr>
              <a:t>Préparation des versions adaptées à chaque plateforme, puis lancement coordonné de la diffusion.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CALENDRIER</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Rétroplanning</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Le calendrier est construit à rebours à partir de la Journée du 26 décembre 2026, seule date non déplaçable du projet.</a:t>
            </a:r>
            <a:endParaRPr lang="en-US" sz="1500" dirty="0"/>
          </a:p>
        </p:txBody>
      </p:sp>
      <p:sp>
        <p:nvSpPr>
          <p:cNvPr id="5" name="Shape 3"/>
          <p:cNvSpPr/>
          <p:nvPr/>
        </p:nvSpPr>
        <p:spPr>
          <a:xfrm>
            <a:off x="685800" y="2606040"/>
            <a:ext cx="1709928" cy="2286000"/>
          </a:xfrm>
          <a:prstGeom prst="roundRect">
            <a:avLst>
              <a:gd name="adj" fmla="val 3209"/>
            </a:avLst>
          </a:prstGeom>
          <a:solidFill>
            <a:srgbClr val="F3EDE0"/>
          </a:solidFill>
          <a:ln w="12700">
            <a:solidFill>
              <a:srgbClr val="E6DCC4"/>
            </a:solidFill>
            <a:prstDash val="solid"/>
          </a:ln>
        </p:spPr>
      </p:sp>
      <p:sp>
        <p:nvSpPr>
          <p:cNvPr id="6" name="Text 4"/>
          <p:cNvSpPr txBox="1"/>
          <p:nvPr/>
        </p:nvSpPr>
        <p:spPr>
          <a:xfrm>
            <a:off x="832104"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Sept. 2026</a:t>
            </a:r>
            <a:endParaRPr lang="en-US" sz="1100" dirty="0"/>
          </a:p>
        </p:txBody>
      </p:sp>
      <p:sp>
        <p:nvSpPr>
          <p:cNvPr id="7" name="Text 5"/>
          <p:cNvSpPr txBox="1"/>
          <p:nvPr/>
        </p:nvSpPr>
        <p:spPr>
          <a:xfrm>
            <a:off x="832104"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Bouclage du financement</a:t>
            </a:r>
            <a:endParaRPr lang="en-US" sz="1400" dirty="0"/>
          </a:p>
        </p:txBody>
      </p:sp>
      <p:sp>
        <p:nvSpPr>
          <p:cNvPr id="8" name="Text 6"/>
          <p:cNvSpPr txBox="1"/>
          <p:nvPr/>
        </p:nvSpPr>
        <p:spPr>
          <a:xfrm>
            <a:off x="832104"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Recherche et confirmation des partenaires.</a:t>
            </a:r>
            <a:endParaRPr lang="en-US" sz="1050" dirty="0"/>
          </a:p>
        </p:txBody>
      </p:sp>
      <p:sp>
        <p:nvSpPr>
          <p:cNvPr id="9" name="Shape 7"/>
          <p:cNvSpPr/>
          <p:nvPr/>
        </p:nvSpPr>
        <p:spPr>
          <a:xfrm>
            <a:off x="2569464" y="2606040"/>
            <a:ext cx="1709928" cy="2286000"/>
          </a:xfrm>
          <a:prstGeom prst="roundRect">
            <a:avLst>
              <a:gd name="adj" fmla="val 3209"/>
            </a:avLst>
          </a:prstGeom>
          <a:solidFill>
            <a:srgbClr val="F3EDE0"/>
          </a:solidFill>
          <a:ln w="12700">
            <a:solidFill>
              <a:srgbClr val="E6DCC4"/>
            </a:solidFill>
            <a:prstDash val="solid"/>
          </a:ln>
        </p:spPr>
      </p:sp>
      <p:sp>
        <p:nvSpPr>
          <p:cNvPr id="10" name="Text 8"/>
          <p:cNvSpPr txBox="1"/>
          <p:nvPr/>
        </p:nvSpPr>
        <p:spPr>
          <a:xfrm>
            <a:off x="2715768"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Oct. 2026</a:t>
            </a:r>
            <a:endParaRPr lang="en-US" sz="1100" dirty="0"/>
          </a:p>
        </p:txBody>
      </p:sp>
      <p:sp>
        <p:nvSpPr>
          <p:cNvPr id="11" name="Text 9"/>
          <p:cNvSpPr txBox="1"/>
          <p:nvPr/>
        </p:nvSpPr>
        <p:spPr>
          <a:xfrm>
            <a:off x="2715768"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Sélection &amp; repérages</a:t>
            </a:r>
            <a:endParaRPr lang="en-US" sz="1400" dirty="0"/>
          </a:p>
        </p:txBody>
      </p:sp>
      <p:sp>
        <p:nvSpPr>
          <p:cNvPr id="12" name="Text 10"/>
          <p:cNvSpPr txBox="1"/>
          <p:nvPr/>
        </p:nvSpPr>
        <p:spPr>
          <a:xfrm>
            <a:off x="2715768"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Contacts avec les guides, liste des intervenants, repérages.</a:t>
            </a:r>
            <a:endParaRPr lang="en-US" sz="1050" dirty="0"/>
          </a:p>
        </p:txBody>
      </p:sp>
      <p:sp>
        <p:nvSpPr>
          <p:cNvPr id="13" name="Shape 11"/>
          <p:cNvSpPr/>
          <p:nvPr/>
        </p:nvSpPr>
        <p:spPr>
          <a:xfrm>
            <a:off x="4453128" y="2606040"/>
            <a:ext cx="1709928" cy="2286000"/>
          </a:xfrm>
          <a:prstGeom prst="roundRect">
            <a:avLst>
              <a:gd name="adj" fmla="val 3209"/>
            </a:avLst>
          </a:prstGeom>
          <a:solidFill>
            <a:srgbClr val="F3EDE0"/>
          </a:solidFill>
          <a:ln w="12700">
            <a:solidFill>
              <a:srgbClr val="E6DCC4"/>
            </a:solidFill>
            <a:prstDash val="solid"/>
          </a:ln>
        </p:spPr>
      </p:sp>
      <p:sp>
        <p:nvSpPr>
          <p:cNvPr id="14" name="Text 12"/>
          <p:cNvSpPr txBox="1"/>
          <p:nvPr/>
        </p:nvSpPr>
        <p:spPr>
          <a:xfrm>
            <a:off x="4599432"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Nov. – déc.</a:t>
            </a:r>
            <a:endParaRPr lang="en-US" sz="1100" dirty="0"/>
          </a:p>
        </p:txBody>
      </p:sp>
      <p:sp>
        <p:nvSpPr>
          <p:cNvPr id="15" name="Text 13"/>
          <p:cNvSpPr txBox="1"/>
          <p:nvPr/>
        </p:nvSpPr>
        <p:spPr>
          <a:xfrm>
            <a:off x="4599432"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Tournage en régions</a:t>
            </a:r>
            <a:endParaRPr lang="en-US" sz="1400" dirty="0"/>
          </a:p>
        </p:txBody>
      </p:sp>
      <p:sp>
        <p:nvSpPr>
          <p:cNvPr id="16" name="Text 14"/>
          <p:cNvSpPr txBox="1"/>
          <p:nvPr/>
        </p:nvSpPr>
        <p:spPr>
          <a:xfrm>
            <a:off x="4599432"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Entretiens avec les guides et les fidèles dans les villes.</a:t>
            </a:r>
            <a:endParaRPr lang="en-US" sz="1050" dirty="0"/>
          </a:p>
        </p:txBody>
      </p:sp>
      <p:sp>
        <p:nvSpPr>
          <p:cNvPr id="17" name="Shape 15"/>
          <p:cNvSpPr/>
          <p:nvPr/>
        </p:nvSpPr>
        <p:spPr>
          <a:xfrm>
            <a:off x="6336792" y="2606040"/>
            <a:ext cx="1709928" cy="2286000"/>
          </a:xfrm>
          <a:prstGeom prst="roundRect">
            <a:avLst>
              <a:gd name="adj" fmla="val 3209"/>
            </a:avLst>
          </a:prstGeom>
          <a:solidFill>
            <a:srgbClr val="082F22"/>
          </a:solidFill>
          <a:ln w="12700">
            <a:solidFill>
              <a:srgbClr val="082F22"/>
            </a:solidFill>
            <a:prstDash val="solid"/>
          </a:ln>
        </p:spPr>
      </p:sp>
      <p:sp>
        <p:nvSpPr>
          <p:cNvPr id="18" name="Text 16"/>
          <p:cNvSpPr txBox="1"/>
          <p:nvPr/>
        </p:nvSpPr>
        <p:spPr>
          <a:xfrm>
            <a:off x="6483096" y="2788920"/>
            <a:ext cx="1417320" cy="274320"/>
          </a:xfrm>
          <a:prstGeom prst="rect">
            <a:avLst/>
          </a:prstGeom>
          <a:noFill/>
          <a:ln/>
        </p:spPr>
        <p:txBody>
          <a:bodyPr wrap="square" lIns="0" tIns="0" rIns="0" bIns="0" rtlCol="0" anchor="ctr"/>
          <a:lstStyle/>
          <a:p>
            <a:pPr indent="0" marL="0">
              <a:buNone/>
            </a:pPr>
            <a:r>
              <a:rPr lang="en-US" sz="1100" b="1" spc="60" kern="0" dirty="0">
                <a:solidFill>
                  <a:srgbClr val="D4AF37"/>
                </a:solidFill>
                <a:latin typeface="Calibri" pitchFamily="34" charset="0"/>
                <a:ea typeface="Calibri" pitchFamily="34" charset="-122"/>
                <a:cs typeface="Calibri" pitchFamily="34" charset="-120"/>
              </a:rPr>
              <a:t>26 déc. 2026</a:t>
            </a:r>
            <a:endParaRPr lang="en-US" sz="1100" dirty="0"/>
          </a:p>
        </p:txBody>
      </p:sp>
      <p:sp>
        <p:nvSpPr>
          <p:cNvPr id="19" name="Text 17"/>
          <p:cNvSpPr txBox="1"/>
          <p:nvPr/>
        </p:nvSpPr>
        <p:spPr>
          <a:xfrm>
            <a:off x="6483096" y="3099816"/>
            <a:ext cx="1417320" cy="64008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Journée à Touba</a:t>
            </a:r>
            <a:endParaRPr lang="en-US" sz="1400" dirty="0"/>
          </a:p>
        </p:txBody>
      </p:sp>
      <p:sp>
        <p:nvSpPr>
          <p:cNvPr id="20" name="Text 18"/>
          <p:cNvSpPr txBox="1"/>
          <p:nvPr/>
        </p:nvSpPr>
        <p:spPr>
          <a:xfrm>
            <a:off x="6483096"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D8E4DB"/>
                </a:solidFill>
                <a:latin typeface="Calibri" pitchFamily="34" charset="0"/>
                <a:ea typeface="Calibri" pitchFamily="34" charset="-122"/>
                <a:cs typeface="Calibri" pitchFamily="34" charset="-120"/>
              </a:rPr>
              <a:t>Captation intégrale : prières, Khassida, dhikr, prises de parole.</a:t>
            </a:r>
            <a:endParaRPr lang="en-US" sz="1050" dirty="0"/>
          </a:p>
        </p:txBody>
      </p:sp>
      <p:sp>
        <p:nvSpPr>
          <p:cNvPr id="21" name="Shape 19"/>
          <p:cNvSpPr/>
          <p:nvPr/>
        </p:nvSpPr>
        <p:spPr>
          <a:xfrm>
            <a:off x="8220456" y="2606040"/>
            <a:ext cx="1709928" cy="2286000"/>
          </a:xfrm>
          <a:prstGeom prst="roundRect">
            <a:avLst>
              <a:gd name="adj" fmla="val 3209"/>
            </a:avLst>
          </a:prstGeom>
          <a:solidFill>
            <a:srgbClr val="F3EDE0"/>
          </a:solidFill>
          <a:ln w="12700">
            <a:solidFill>
              <a:srgbClr val="E6DCC4"/>
            </a:solidFill>
            <a:prstDash val="solid"/>
          </a:ln>
        </p:spPr>
      </p:sp>
      <p:sp>
        <p:nvSpPr>
          <p:cNvPr id="22" name="Text 20"/>
          <p:cNvSpPr txBox="1"/>
          <p:nvPr/>
        </p:nvSpPr>
        <p:spPr>
          <a:xfrm>
            <a:off x="8366760"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Janv. – févr.</a:t>
            </a:r>
            <a:endParaRPr lang="en-US" sz="1100" dirty="0"/>
          </a:p>
        </p:txBody>
      </p:sp>
      <p:sp>
        <p:nvSpPr>
          <p:cNvPr id="23" name="Text 21"/>
          <p:cNvSpPr txBox="1"/>
          <p:nvPr/>
        </p:nvSpPr>
        <p:spPr>
          <a:xfrm>
            <a:off x="8366760"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Montage</a:t>
            </a:r>
            <a:endParaRPr lang="en-US" sz="1400" dirty="0"/>
          </a:p>
        </p:txBody>
      </p:sp>
      <p:sp>
        <p:nvSpPr>
          <p:cNvPr id="24" name="Text 22"/>
          <p:cNvSpPr txBox="1"/>
          <p:nvPr/>
        </p:nvSpPr>
        <p:spPr>
          <a:xfrm>
            <a:off x="8366760"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Dérushage, montage, mixage, étalonnage, sous-titrage.</a:t>
            </a:r>
            <a:endParaRPr lang="en-US" sz="1050" dirty="0"/>
          </a:p>
        </p:txBody>
      </p:sp>
      <p:sp>
        <p:nvSpPr>
          <p:cNvPr id="25" name="Shape 23"/>
          <p:cNvSpPr/>
          <p:nvPr/>
        </p:nvSpPr>
        <p:spPr>
          <a:xfrm>
            <a:off x="10104120" y="2606040"/>
            <a:ext cx="1709928" cy="2286000"/>
          </a:xfrm>
          <a:prstGeom prst="roundRect">
            <a:avLst>
              <a:gd name="adj" fmla="val 3209"/>
            </a:avLst>
          </a:prstGeom>
          <a:solidFill>
            <a:srgbClr val="F3EDE0"/>
          </a:solidFill>
          <a:ln w="12700">
            <a:solidFill>
              <a:srgbClr val="E6DCC4"/>
            </a:solidFill>
            <a:prstDash val="solid"/>
          </a:ln>
        </p:spPr>
      </p:sp>
      <p:sp>
        <p:nvSpPr>
          <p:cNvPr id="26" name="Text 24"/>
          <p:cNvSpPr txBox="1"/>
          <p:nvPr/>
        </p:nvSpPr>
        <p:spPr>
          <a:xfrm>
            <a:off x="10250424" y="2788920"/>
            <a:ext cx="1417320" cy="274320"/>
          </a:xfrm>
          <a:prstGeom prst="rect">
            <a:avLst/>
          </a:prstGeom>
          <a:noFill/>
          <a:ln/>
        </p:spPr>
        <p:txBody>
          <a:bodyPr wrap="square" lIns="0" tIns="0" rIns="0" bIns="0" rtlCol="0" anchor="ctr"/>
          <a:lstStyle/>
          <a:p>
            <a:pPr indent="0" marL="0">
              <a:buNone/>
            </a:pPr>
            <a:r>
              <a:rPr lang="en-US" sz="1100" b="1" spc="60" kern="0" dirty="0">
                <a:solidFill>
                  <a:srgbClr val="B8860B"/>
                </a:solidFill>
                <a:latin typeface="Calibri" pitchFamily="34" charset="0"/>
                <a:ea typeface="Calibri" pitchFamily="34" charset="-122"/>
                <a:cs typeface="Calibri" pitchFamily="34" charset="-120"/>
              </a:rPr>
              <a:t>Mars 2027</a:t>
            </a:r>
            <a:endParaRPr lang="en-US" sz="1100" dirty="0"/>
          </a:p>
        </p:txBody>
      </p:sp>
      <p:sp>
        <p:nvSpPr>
          <p:cNvPr id="27" name="Text 25"/>
          <p:cNvSpPr txBox="1"/>
          <p:nvPr/>
        </p:nvSpPr>
        <p:spPr>
          <a:xfrm>
            <a:off x="10250424" y="3099816"/>
            <a:ext cx="1417320" cy="640080"/>
          </a:xfrm>
          <a:prstGeom prst="rect">
            <a:avLst/>
          </a:prstGeom>
          <a:noFill/>
          <a:ln/>
        </p:spPr>
        <p:txBody>
          <a:bodyPr wrap="square" lIns="0" tIns="0" rIns="0" bIns="0" rtlCol="0" anchor="t"/>
          <a:lstStyle/>
          <a:p>
            <a:pPr indent="0" marL="0">
              <a:buNone/>
            </a:pPr>
            <a:r>
              <a:rPr lang="en-US" sz="1400" b="1" dirty="0">
                <a:solidFill>
                  <a:srgbClr val="082F22"/>
                </a:solidFill>
                <a:latin typeface="Cambria" pitchFamily="34" charset="0"/>
                <a:ea typeface="Cambria" pitchFamily="34" charset="-122"/>
                <a:cs typeface="Cambria" pitchFamily="34" charset="-120"/>
              </a:rPr>
              <a:t>Livraison &amp; diffusion</a:t>
            </a:r>
            <a:endParaRPr lang="en-US" sz="1400" dirty="0"/>
          </a:p>
        </p:txBody>
      </p:sp>
      <p:sp>
        <p:nvSpPr>
          <p:cNvPr id="28" name="Text 26"/>
          <p:cNvSpPr txBox="1"/>
          <p:nvPr/>
        </p:nvSpPr>
        <p:spPr>
          <a:xfrm>
            <a:off x="10250424" y="3776472"/>
            <a:ext cx="1417320" cy="1051560"/>
          </a:xfrm>
          <a:prstGeom prst="rect">
            <a:avLst/>
          </a:prstGeom>
          <a:noFill/>
          <a:ln/>
        </p:spPr>
        <p:txBody>
          <a:bodyPr wrap="square" lIns="0" tIns="0" rIns="0" bIns="0" rtlCol="0" anchor="t"/>
          <a:lstStyle/>
          <a:p>
            <a:pPr indent="0" marL="0">
              <a:lnSpc>
                <a:spcPct val="114000"/>
              </a:lnSpc>
              <a:buNone/>
            </a:pPr>
            <a:r>
              <a:rPr lang="en-US" sz="1050" dirty="0">
                <a:solidFill>
                  <a:srgbClr val="4A443C"/>
                </a:solidFill>
                <a:latin typeface="Calibri" pitchFamily="34" charset="0"/>
                <a:ea typeface="Calibri" pitchFamily="34" charset="-122"/>
                <a:cs typeface="Calibri" pitchFamily="34" charset="-120"/>
              </a:rPr>
              <a:t>Livraison des masters et lancement de la diffusion.</a:t>
            </a:r>
            <a:endParaRPr lang="en-US" sz="1050" dirty="0"/>
          </a:p>
        </p:txBody>
      </p:sp>
      <p:sp>
        <p:nvSpPr>
          <p:cNvPr id="29" name="Text 27"/>
          <p:cNvSpPr txBox="1"/>
          <p:nvPr/>
        </p:nvSpPr>
        <p:spPr>
          <a:xfrm>
            <a:off x="685800" y="5138928"/>
            <a:ext cx="10820095" cy="329184"/>
          </a:xfrm>
          <a:prstGeom prst="rect">
            <a:avLst/>
          </a:prstGeom>
          <a:noFill/>
          <a:ln/>
        </p:spPr>
        <p:txBody>
          <a:bodyPr wrap="square" lIns="0" tIns="0" rIns="0" bIns="0" rtlCol="0" anchor="ctr"/>
          <a:lstStyle/>
          <a:p>
            <a:pPr indent="0" marL="0">
              <a:buNone/>
            </a:pPr>
            <a:r>
              <a:rPr lang="en-US" sz="1250" i="1" dirty="0">
                <a:solidFill>
                  <a:srgbClr val="7C7469"/>
                </a:solidFill>
                <a:latin typeface="Calibri" pitchFamily="34" charset="0"/>
                <a:ea typeface="Calibri" pitchFamily="34" charset="-122"/>
                <a:cs typeface="Calibri" pitchFamily="34" charset="-120"/>
              </a:rPr>
              <a:t>La Journée du 26 décembre est la séquence centrale du film : tout le calendrier se cale sur elle.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BUDGET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Budget prévisionnel</a:t>
            </a:r>
            <a:endParaRPr lang="en-US" sz="3800" dirty="0"/>
          </a:p>
        </p:txBody>
      </p:sp>
      <p:graphicFrame>
        <p:nvGraphicFramePr>
          <p:cNvPr id="4" name="Chart 0" descr=""/>
          <p:cNvGraphicFramePr/>
          <p:nvPr/>
        </p:nvGraphicFramePr>
        <p:xfrm>
          <a:off x="685800" y="1920240"/>
          <a:ext cx="704088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965960"/>
            <a:ext cx="3413455" cy="896112"/>
          </a:xfrm>
          <a:prstGeom prst="roundRect">
            <a:avLst>
              <a:gd name="adj" fmla="val 6122"/>
            </a:avLst>
          </a:prstGeom>
          <a:solidFill>
            <a:srgbClr val="F3EDE0"/>
          </a:solidFill>
          <a:ln w="12700">
            <a:solidFill>
              <a:srgbClr val="E6DCC4"/>
            </a:solidFill>
            <a:prstDash val="solid"/>
          </a:ln>
        </p:spPr>
      </p:sp>
      <p:sp>
        <p:nvSpPr>
          <p:cNvPr id="6" name="Text 3"/>
          <p:cNvSpPr txBox="1"/>
          <p:nvPr/>
        </p:nvSpPr>
        <p:spPr>
          <a:xfrm>
            <a:off x="8311896" y="2084832"/>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520 000 FCFA</a:t>
            </a:r>
            <a:endParaRPr lang="en-US" sz="1900" dirty="0"/>
          </a:p>
        </p:txBody>
      </p:sp>
      <p:sp>
        <p:nvSpPr>
          <p:cNvPr id="7" name="Text 4"/>
          <p:cNvSpPr txBox="1"/>
          <p:nvPr/>
        </p:nvSpPr>
        <p:spPr>
          <a:xfrm>
            <a:off x="8311896" y="2441448"/>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Budget total prévisionnel</a:t>
            </a:r>
            <a:endParaRPr lang="en-US" sz="1100" dirty="0"/>
          </a:p>
        </p:txBody>
      </p:sp>
      <p:sp>
        <p:nvSpPr>
          <p:cNvPr id="8" name="Shape 5"/>
          <p:cNvSpPr/>
          <p:nvPr/>
        </p:nvSpPr>
        <p:spPr>
          <a:xfrm>
            <a:off x="8092440" y="3026664"/>
            <a:ext cx="3413455" cy="896112"/>
          </a:xfrm>
          <a:prstGeom prst="roundRect">
            <a:avLst>
              <a:gd name="adj" fmla="val 6122"/>
            </a:avLst>
          </a:prstGeom>
          <a:solidFill>
            <a:srgbClr val="F3EDE0"/>
          </a:solidFill>
          <a:ln w="12700">
            <a:solidFill>
              <a:srgbClr val="E6DCC4"/>
            </a:solidFill>
            <a:prstDash val="solid"/>
          </a:ln>
        </p:spPr>
      </p:sp>
      <p:sp>
        <p:nvSpPr>
          <p:cNvPr id="9" name="Text 6"/>
          <p:cNvSpPr txBox="1"/>
          <p:nvPr/>
        </p:nvSpPr>
        <p:spPr>
          <a:xfrm>
            <a:off x="8311896" y="3145536"/>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500 000 FCFA</a:t>
            </a:r>
            <a:endParaRPr lang="en-US" sz="1900" dirty="0"/>
          </a:p>
        </p:txBody>
      </p:sp>
      <p:sp>
        <p:nvSpPr>
          <p:cNvPr id="10" name="Text 7"/>
          <p:cNvSpPr txBox="1"/>
          <p:nvPr/>
        </p:nvSpPr>
        <p:spPr>
          <a:xfrm>
            <a:off x="8311896" y="3502152"/>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Recherchés auprès de partenaires</a:t>
            </a:r>
            <a:endParaRPr lang="en-US" sz="1100" dirty="0"/>
          </a:p>
        </p:txBody>
      </p:sp>
      <p:sp>
        <p:nvSpPr>
          <p:cNvPr id="11" name="Shape 8"/>
          <p:cNvSpPr/>
          <p:nvPr/>
        </p:nvSpPr>
        <p:spPr>
          <a:xfrm>
            <a:off x="8092440" y="4087368"/>
            <a:ext cx="3413455" cy="896112"/>
          </a:xfrm>
          <a:prstGeom prst="roundRect">
            <a:avLst>
              <a:gd name="adj" fmla="val 6122"/>
            </a:avLst>
          </a:prstGeom>
          <a:solidFill>
            <a:srgbClr val="F3EDE0"/>
          </a:solidFill>
          <a:ln w="12700">
            <a:solidFill>
              <a:srgbClr val="E6DCC4"/>
            </a:solidFill>
            <a:prstDash val="solid"/>
          </a:ln>
        </p:spPr>
      </p:sp>
      <p:sp>
        <p:nvSpPr>
          <p:cNvPr id="12" name="Text 9"/>
          <p:cNvSpPr txBox="1"/>
          <p:nvPr/>
        </p:nvSpPr>
        <p:spPr>
          <a:xfrm>
            <a:off x="8311896" y="4206240"/>
            <a:ext cx="2974543" cy="329184"/>
          </a:xfrm>
          <a:prstGeom prst="rect">
            <a:avLst/>
          </a:prstGeom>
          <a:noFill/>
          <a:ln/>
        </p:spPr>
        <p:txBody>
          <a:bodyPr wrap="square" lIns="0" tIns="0" rIns="0" bIns="0" rtlCol="0" anchor="ctr"/>
          <a:lstStyle/>
          <a:p>
            <a:pPr indent="0" marL="0">
              <a:buNone/>
            </a:pPr>
            <a:r>
              <a:rPr lang="en-US" sz="1900" b="1" dirty="0">
                <a:solidFill>
                  <a:srgbClr val="082F22"/>
                </a:solidFill>
                <a:latin typeface="Cambria" pitchFamily="34" charset="0"/>
                <a:ea typeface="Cambria" pitchFamily="34" charset="-122"/>
                <a:cs typeface="Cambria" pitchFamily="34" charset="-120"/>
              </a:rPr>
              <a:t>75 %</a:t>
            </a:r>
            <a:endParaRPr lang="en-US" sz="1900" dirty="0"/>
          </a:p>
        </p:txBody>
      </p:sp>
      <p:sp>
        <p:nvSpPr>
          <p:cNvPr id="13" name="Text 10"/>
          <p:cNvSpPr txBox="1"/>
          <p:nvPr/>
        </p:nvSpPr>
        <p:spPr>
          <a:xfrm>
            <a:off x="8311896" y="4562856"/>
            <a:ext cx="2974543" cy="329184"/>
          </a:xfrm>
          <a:prstGeom prst="rect">
            <a:avLst/>
          </a:prstGeom>
          <a:noFill/>
          <a:ln/>
        </p:spPr>
        <p:txBody>
          <a:bodyPr wrap="square" lIns="0" tIns="0" rIns="0" bIns="0" rtlCol="0" anchor="ctr"/>
          <a:lstStyle/>
          <a:p>
            <a:pPr indent="0" marL="0">
              <a:buNone/>
            </a:pPr>
            <a:r>
              <a:rPr lang="en-US" sz="1100" dirty="0">
                <a:solidFill>
                  <a:srgbClr val="7C7469"/>
                </a:solidFill>
                <a:latin typeface="Calibri" pitchFamily="34" charset="0"/>
                <a:ea typeface="Calibri" pitchFamily="34" charset="-122"/>
                <a:cs typeface="Calibri" pitchFamily="34" charset="-120"/>
              </a:rPr>
              <a:t>Montage, déplacements et tournage réunis</a:t>
            </a:r>
            <a:endParaRPr lang="en-US" sz="1100" dirty="0"/>
          </a:p>
        </p:txBody>
      </p:sp>
      <p:sp>
        <p:nvSpPr>
          <p:cNvPr id="14" name="Text 11"/>
          <p:cNvSpPr txBox="1"/>
          <p:nvPr/>
        </p:nvSpPr>
        <p:spPr>
          <a:xfrm>
            <a:off x="8092440" y="5349240"/>
            <a:ext cx="3413455" cy="1005840"/>
          </a:xfrm>
          <a:prstGeom prst="rect">
            <a:avLst/>
          </a:prstGeom>
          <a:noFill/>
          <a:ln/>
        </p:spPr>
        <p:txBody>
          <a:bodyPr wrap="square" lIns="0" tIns="0" rIns="0" bIns="0" rtlCol="0" anchor="t"/>
          <a:lstStyle/>
          <a:p>
            <a:pPr indent="0" marL="0">
              <a:lnSpc>
                <a:spcPct val="115000"/>
              </a:lnSpc>
              <a:buNone/>
            </a:pPr>
            <a:r>
              <a:rPr lang="en-US" sz="1100" i="1" dirty="0">
                <a:solidFill>
                  <a:srgbClr val="7C7469"/>
                </a:solidFill>
                <a:latin typeface="Calibri" pitchFamily="34" charset="0"/>
                <a:ea typeface="Calibri" pitchFamily="34" charset="-122"/>
                <a:cs typeface="Calibri" pitchFamily="34" charset="-120"/>
              </a:rPr>
              <a:t>Montant prévisionnel, ajustable selon le nombre d'intervenants, les villes de tournage et les besoins techniques définitifs. Toute contribution supplémentaire ira en priorité aux déplacements, qui conditionnent le nombre d'intervenants accessibles.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PARTENARIAT</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Formules de partenariat</a:t>
            </a:r>
            <a:endParaRPr lang="en-US" sz="3800" dirty="0"/>
          </a:p>
        </p:txBody>
      </p:sp>
      <p:sp>
        <p:nvSpPr>
          <p:cNvPr id="4" name="Text 2"/>
          <p:cNvSpPr txBox="1"/>
          <p:nvPr/>
        </p:nvSpPr>
        <p:spPr>
          <a:xfrm>
            <a:off x="685800" y="1591056"/>
            <a:ext cx="10820095" cy="402336"/>
          </a:xfrm>
          <a:prstGeom prst="rect">
            <a:avLst/>
          </a:prstGeom>
          <a:noFill/>
          <a:ln/>
        </p:spPr>
        <p:txBody>
          <a:bodyPr wrap="square" lIns="0" tIns="0" rIns="0" bIns="0" rtlCol="0" anchor="ctr"/>
          <a:lstStyle/>
          <a:p>
            <a:pPr indent="0" marL="0">
              <a:buNone/>
            </a:pPr>
            <a:r>
              <a:rPr lang="en-US" sz="1500" dirty="0">
                <a:solidFill>
                  <a:srgbClr val="4A443C"/>
                </a:solidFill>
                <a:latin typeface="Calibri" pitchFamily="34" charset="0"/>
                <a:ea typeface="Calibri" pitchFamily="34" charset="-122"/>
                <a:cs typeface="Calibri" pitchFamily="34" charset="-120"/>
              </a:rPr>
              <a:t>Quatre niveaux d'accompagnement. Les contributions en nature — transport, hébergement, matériel, restauration — sont valorisées au même titre.</a:t>
            </a:r>
            <a:endParaRPr lang="en-US" sz="1500" dirty="0"/>
          </a:p>
        </p:txBody>
      </p:sp>
      <p:sp>
        <p:nvSpPr>
          <p:cNvPr id="5" name="Shape 3"/>
          <p:cNvSpPr/>
          <p:nvPr/>
        </p:nvSpPr>
        <p:spPr>
          <a:xfrm>
            <a:off x="685800" y="2468880"/>
            <a:ext cx="2615184" cy="3017520"/>
          </a:xfrm>
          <a:prstGeom prst="roundRect">
            <a:avLst>
              <a:gd name="adj" fmla="val 2098"/>
            </a:avLst>
          </a:prstGeom>
          <a:solidFill>
            <a:srgbClr val="F3EDE0"/>
          </a:solidFill>
          <a:ln w="12700">
            <a:solidFill>
              <a:srgbClr val="E6DCC4"/>
            </a:solidFill>
            <a:prstDash val="solid"/>
          </a:ln>
        </p:spPr>
      </p:sp>
      <p:sp>
        <p:nvSpPr>
          <p:cNvPr id="6" name="Text 4"/>
          <p:cNvSpPr txBox="1"/>
          <p:nvPr/>
        </p:nvSpPr>
        <p:spPr>
          <a:xfrm>
            <a:off x="905256"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COMPAGNON</a:t>
            </a:r>
            <a:endParaRPr lang="en-US" sz="1000" dirty="0"/>
          </a:p>
        </p:txBody>
      </p:sp>
      <p:sp>
        <p:nvSpPr>
          <p:cNvPr id="7" name="Text 5"/>
          <p:cNvSpPr txBox="1"/>
          <p:nvPr/>
        </p:nvSpPr>
        <p:spPr>
          <a:xfrm>
            <a:off x="905256"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25 000</a:t>
            </a:r>
            <a:endParaRPr lang="en-US" sz="2400" dirty="0"/>
          </a:p>
        </p:txBody>
      </p:sp>
      <p:sp>
        <p:nvSpPr>
          <p:cNvPr id="8" name="Text 6"/>
          <p:cNvSpPr txBox="1"/>
          <p:nvPr/>
        </p:nvSpPr>
        <p:spPr>
          <a:xfrm>
            <a:off x="905256"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 et plus</a:t>
            </a:r>
            <a:endParaRPr lang="en-US" sz="1050" dirty="0"/>
          </a:p>
        </p:txBody>
      </p:sp>
      <p:sp>
        <p:nvSpPr>
          <p:cNvPr id="9" name="Text 7"/>
          <p:cNvSpPr txBox="1"/>
          <p:nvPr/>
        </p:nvSpPr>
        <p:spPr>
          <a:xfrm>
            <a:off x="905256"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Nom cité au générique de fin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dans une publication de remerciement</a:t>
            </a:r>
            <a:endParaRPr lang="en-US" sz="1100" dirty="0"/>
          </a:p>
        </p:txBody>
      </p:sp>
      <p:sp>
        <p:nvSpPr>
          <p:cNvPr id="10" name="Shape 8"/>
          <p:cNvSpPr/>
          <p:nvPr/>
        </p:nvSpPr>
        <p:spPr>
          <a:xfrm>
            <a:off x="3557016" y="2468880"/>
            <a:ext cx="2615184" cy="3017520"/>
          </a:xfrm>
          <a:prstGeom prst="roundRect">
            <a:avLst>
              <a:gd name="adj" fmla="val 2098"/>
            </a:avLst>
          </a:prstGeom>
          <a:solidFill>
            <a:srgbClr val="F3EDE0"/>
          </a:solidFill>
          <a:ln w="12700">
            <a:solidFill>
              <a:srgbClr val="E6DCC4"/>
            </a:solidFill>
            <a:prstDash val="solid"/>
          </a:ln>
        </p:spPr>
      </p:sp>
      <p:sp>
        <p:nvSpPr>
          <p:cNvPr id="11" name="Text 9"/>
          <p:cNvSpPr txBox="1"/>
          <p:nvPr/>
        </p:nvSpPr>
        <p:spPr>
          <a:xfrm>
            <a:off x="3776472"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PARTENAIRE ASSOCIÉ</a:t>
            </a:r>
            <a:endParaRPr lang="en-US" sz="1000" dirty="0"/>
          </a:p>
        </p:txBody>
      </p:sp>
      <p:sp>
        <p:nvSpPr>
          <p:cNvPr id="12" name="Text 10"/>
          <p:cNvSpPr txBox="1"/>
          <p:nvPr/>
        </p:nvSpPr>
        <p:spPr>
          <a:xfrm>
            <a:off x="3776472"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100 000</a:t>
            </a:r>
            <a:endParaRPr lang="en-US" sz="2400" dirty="0"/>
          </a:p>
        </p:txBody>
      </p:sp>
      <p:sp>
        <p:nvSpPr>
          <p:cNvPr id="13" name="Text 11"/>
          <p:cNvSpPr txBox="1"/>
          <p:nvPr/>
        </p:nvSpPr>
        <p:spPr>
          <a:xfrm>
            <a:off x="3776472"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a:t>
            </a:r>
            <a:endParaRPr lang="en-US" sz="1050" dirty="0"/>
          </a:p>
        </p:txBody>
      </p:sp>
      <p:sp>
        <p:nvSpPr>
          <p:cNvPr id="14" name="Text 12"/>
          <p:cNvSpPr txBox="1"/>
          <p:nvPr/>
        </p:nvSpPr>
        <p:spPr>
          <a:xfrm>
            <a:off x="3776472"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Logo au générique de fin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dans tous les supports de communication</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Une capsule de remerciement dédiée</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Photographies de la Journée</a:t>
            </a:r>
            <a:endParaRPr lang="en-US" sz="1100" dirty="0"/>
          </a:p>
        </p:txBody>
      </p:sp>
      <p:sp>
        <p:nvSpPr>
          <p:cNvPr id="15" name="Shape 13"/>
          <p:cNvSpPr/>
          <p:nvPr/>
        </p:nvSpPr>
        <p:spPr>
          <a:xfrm>
            <a:off x="6428232" y="2468880"/>
            <a:ext cx="2615184" cy="3017520"/>
          </a:xfrm>
          <a:prstGeom prst="roundRect">
            <a:avLst>
              <a:gd name="adj" fmla="val 2098"/>
            </a:avLst>
          </a:prstGeom>
          <a:solidFill>
            <a:srgbClr val="082F22"/>
          </a:solidFill>
          <a:ln w="12700">
            <a:solidFill>
              <a:srgbClr val="082F22"/>
            </a:solidFill>
            <a:prstDash val="solid"/>
          </a:ln>
        </p:spPr>
      </p:sp>
      <p:sp>
        <p:nvSpPr>
          <p:cNvPr id="16" name="Text 14"/>
          <p:cNvSpPr txBox="1"/>
          <p:nvPr/>
        </p:nvSpPr>
        <p:spPr>
          <a:xfrm>
            <a:off x="6647688" y="2670048"/>
            <a:ext cx="2176272" cy="256032"/>
          </a:xfrm>
          <a:prstGeom prst="rect">
            <a:avLst/>
          </a:prstGeom>
          <a:noFill/>
          <a:ln/>
        </p:spPr>
        <p:txBody>
          <a:bodyPr wrap="square" lIns="0" tIns="0" rIns="0" bIns="0" rtlCol="0" anchor="ctr"/>
          <a:lstStyle/>
          <a:p>
            <a:pPr indent="0" marL="0">
              <a:buNone/>
            </a:pPr>
            <a:r>
              <a:rPr lang="en-US" sz="1000" b="1" spc="140" kern="0" dirty="0">
                <a:solidFill>
                  <a:srgbClr val="D4AF37"/>
                </a:solidFill>
                <a:latin typeface="Calibri" pitchFamily="34" charset="0"/>
                <a:ea typeface="Calibri" pitchFamily="34" charset="-122"/>
                <a:cs typeface="Calibri" pitchFamily="34" charset="-120"/>
              </a:rPr>
              <a:t>PARTENAIRE PRINCIPAL</a:t>
            </a:r>
            <a:endParaRPr lang="en-US" sz="1000" dirty="0"/>
          </a:p>
        </p:txBody>
      </p:sp>
      <p:sp>
        <p:nvSpPr>
          <p:cNvPr id="17" name="Text 15"/>
          <p:cNvSpPr txBox="1"/>
          <p:nvPr/>
        </p:nvSpPr>
        <p:spPr>
          <a:xfrm>
            <a:off x="6647688" y="2944368"/>
            <a:ext cx="2176272"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250 000</a:t>
            </a:r>
            <a:endParaRPr lang="en-US" sz="2400" dirty="0"/>
          </a:p>
        </p:txBody>
      </p:sp>
      <p:sp>
        <p:nvSpPr>
          <p:cNvPr id="18" name="Text 16"/>
          <p:cNvSpPr txBox="1"/>
          <p:nvPr/>
        </p:nvSpPr>
        <p:spPr>
          <a:xfrm>
            <a:off x="6647688" y="3364992"/>
            <a:ext cx="2176272" cy="237744"/>
          </a:xfrm>
          <a:prstGeom prst="rect">
            <a:avLst/>
          </a:prstGeom>
          <a:noFill/>
          <a:ln/>
        </p:spPr>
        <p:txBody>
          <a:bodyPr wrap="square" lIns="0" tIns="0" rIns="0" bIns="0" rtlCol="0" anchor="ctr"/>
          <a:lstStyle/>
          <a:p>
            <a:pPr indent="0" marL="0">
              <a:buNone/>
            </a:pPr>
            <a:r>
              <a:rPr lang="en-US" sz="1050" dirty="0">
                <a:solidFill>
                  <a:srgbClr val="A8BFAF"/>
                </a:solidFill>
                <a:latin typeface="Calibri" pitchFamily="34" charset="0"/>
                <a:ea typeface="Calibri" pitchFamily="34" charset="-122"/>
                <a:cs typeface="Calibri" pitchFamily="34" charset="-120"/>
              </a:rPr>
              <a:t>FCFA — 2 places</a:t>
            </a:r>
            <a:endParaRPr lang="en-US" sz="1050" dirty="0"/>
          </a:p>
        </p:txBody>
      </p:sp>
      <p:sp>
        <p:nvSpPr>
          <p:cNvPr id="19" name="Text 17"/>
          <p:cNvSpPr txBox="1"/>
          <p:nvPr/>
        </p:nvSpPr>
        <p:spPr>
          <a:xfrm>
            <a:off x="6647688"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Logo à l'ouverture et au générique</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Mention « avec le soutien de » partout</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Reconnaissance officielle le 26 décembre</a:t>
            </a:r>
            <a:endParaRPr lang="en-US" sz="1100" dirty="0"/>
          </a:p>
          <a:p>
            <a:pPr marL="139700" indent="-139700">
              <a:spcAft>
                <a:spcPts val="600"/>
              </a:spcAft>
              <a:buSzPct val="100000"/>
              <a:buChar char="•"/>
            </a:pPr>
            <a:r>
              <a:rPr lang="en-US" sz="1100" dirty="0">
                <a:solidFill>
                  <a:srgbClr val="D8E4DB"/>
                </a:solidFill>
                <a:latin typeface="Calibri" pitchFamily="34" charset="0"/>
                <a:ea typeface="Calibri" pitchFamily="34" charset="-122"/>
                <a:cs typeface="Calibri" pitchFamily="34" charset="-120"/>
              </a:rPr>
              <a:t>Possibilité d'une prise de parole filmée</a:t>
            </a:r>
            <a:endParaRPr lang="en-US" sz="1100" dirty="0"/>
          </a:p>
        </p:txBody>
      </p:sp>
      <p:sp>
        <p:nvSpPr>
          <p:cNvPr id="20" name="Shape 18"/>
          <p:cNvSpPr/>
          <p:nvPr/>
        </p:nvSpPr>
        <p:spPr>
          <a:xfrm>
            <a:off x="9299448" y="2468880"/>
            <a:ext cx="2615184" cy="3017520"/>
          </a:xfrm>
          <a:prstGeom prst="roundRect">
            <a:avLst>
              <a:gd name="adj" fmla="val 2098"/>
            </a:avLst>
          </a:prstGeom>
          <a:solidFill>
            <a:srgbClr val="F3EDE0"/>
          </a:solidFill>
          <a:ln w="12700">
            <a:solidFill>
              <a:srgbClr val="E6DCC4"/>
            </a:solidFill>
            <a:prstDash val="solid"/>
          </a:ln>
        </p:spPr>
      </p:sp>
      <p:sp>
        <p:nvSpPr>
          <p:cNvPr id="21" name="Text 19"/>
          <p:cNvSpPr txBox="1"/>
          <p:nvPr/>
        </p:nvSpPr>
        <p:spPr>
          <a:xfrm>
            <a:off x="9518904" y="2670048"/>
            <a:ext cx="2176272" cy="256032"/>
          </a:xfrm>
          <a:prstGeom prst="rect">
            <a:avLst/>
          </a:prstGeom>
          <a:noFill/>
          <a:ln/>
        </p:spPr>
        <p:txBody>
          <a:bodyPr wrap="square" lIns="0" tIns="0" rIns="0" bIns="0" rtlCol="0" anchor="ctr"/>
          <a:lstStyle/>
          <a:p>
            <a:pPr indent="0" marL="0">
              <a:buNone/>
            </a:pPr>
            <a:r>
              <a:rPr lang="en-US" sz="1000" b="1" spc="140" kern="0" dirty="0">
                <a:solidFill>
                  <a:srgbClr val="B8860B"/>
                </a:solidFill>
                <a:latin typeface="Calibri" pitchFamily="34" charset="0"/>
                <a:ea typeface="Calibri" pitchFamily="34" charset="-122"/>
                <a:cs typeface="Calibri" pitchFamily="34" charset="-120"/>
              </a:rPr>
              <a:t>MÉCÉNAT INTÉGRAL</a:t>
            </a:r>
            <a:endParaRPr lang="en-US" sz="1000" dirty="0"/>
          </a:p>
        </p:txBody>
      </p:sp>
      <p:sp>
        <p:nvSpPr>
          <p:cNvPr id="22" name="Text 20"/>
          <p:cNvSpPr txBox="1"/>
          <p:nvPr/>
        </p:nvSpPr>
        <p:spPr>
          <a:xfrm>
            <a:off x="9518904" y="2944368"/>
            <a:ext cx="2176272" cy="402336"/>
          </a:xfrm>
          <a:prstGeom prst="rect">
            <a:avLst/>
          </a:prstGeom>
          <a:noFill/>
          <a:ln/>
        </p:spPr>
        <p:txBody>
          <a:bodyPr wrap="square" lIns="0" tIns="0" rIns="0" bIns="0" rtlCol="0" anchor="ctr"/>
          <a:lstStyle/>
          <a:p>
            <a:pPr indent="0" marL="0">
              <a:buNone/>
            </a:pPr>
            <a:r>
              <a:rPr lang="en-US" sz="2400" b="1" dirty="0">
                <a:solidFill>
                  <a:srgbClr val="082F22"/>
                </a:solidFill>
                <a:latin typeface="Cambria" pitchFamily="34" charset="0"/>
                <a:ea typeface="Cambria" pitchFamily="34" charset="-122"/>
                <a:cs typeface="Cambria" pitchFamily="34" charset="-120"/>
              </a:rPr>
              <a:t>520 000</a:t>
            </a:r>
            <a:endParaRPr lang="en-US" sz="2400" dirty="0"/>
          </a:p>
        </p:txBody>
      </p:sp>
      <p:sp>
        <p:nvSpPr>
          <p:cNvPr id="23" name="Text 21"/>
          <p:cNvSpPr txBox="1"/>
          <p:nvPr/>
        </p:nvSpPr>
        <p:spPr>
          <a:xfrm>
            <a:off x="9518904" y="3364992"/>
            <a:ext cx="2176272" cy="237744"/>
          </a:xfrm>
          <a:prstGeom prst="rect">
            <a:avLst/>
          </a:prstGeom>
          <a:noFill/>
          <a:ln/>
        </p:spPr>
        <p:txBody>
          <a:bodyPr wrap="square" lIns="0" tIns="0" rIns="0" bIns="0" rtlCol="0" anchor="ctr"/>
          <a:lstStyle/>
          <a:p>
            <a:pPr indent="0" marL="0">
              <a:buNone/>
            </a:pPr>
            <a:r>
              <a:rPr lang="en-US" sz="1050" dirty="0">
                <a:solidFill>
                  <a:srgbClr val="7C7469"/>
                </a:solidFill>
                <a:latin typeface="Calibri" pitchFamily="34" charset="0"/>
                <a:ea typeface="Calibri" pitchFamily="34" charset="-122"/>
                <a:cs typeface="Calibri" pitchFamily="34" charset="-120"/>
              </a:rPr>
              <a:t>FCFA — 1 place</a:t>
            </a:r>
            <a:endParaRPr lang="en-US" sz="1050" dirty="0"/>
          </a:p>
        </p:txBody>
      </p:sp>
      <p:sp>
        <p:nvSpPr>
          <p:cNvPr id="24" name="Text 22"/>
          <p:cNvSpPr txBox="1"/>
          <p:nvPr/>
        </p:nvSpPr>
        <p:spPr>
          <a:xfrm>
            <a:off x="9518904" y="3712464"/>
            <a:ext cx="2176272" cy="1645920"/>
          </a:xfrm>
          <a:prstGeom prst="rect">
            <a:avLst/>
          </a:prstGeom>
          <a:noFill/>
          <a:ln/>
        </p:spPr>
        <p:txBody>
          <a:bodyPr wrap="square" lIns="0" tIns="0" rIns="0" bIns="0" rtlCol="0" anchor="t"/>
          <a:lstStyle/>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Mention exclusive « présenté par »</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Association aux annonces officielles</a:t>
            </a:r>
            <a:endParaRPr lang="en-US" sz="1100" dirty="0"/>
          </a:p>
          <a:p>
            <a:pPr marL="139700" indent="-139700">
              <a:spcAft>
                <a:spcPts val="600"/>
              </a:spcAft>
              <a:buSzPct val="100000"/>
              <a:buChar char="•"/>
            </a:pPr>
            <a:r>
              <a:rPr lang="en-US" sz="1100" dirty="0">
                <a:solidFill>
                  <a:srgbClr val="4A443C"/>
                </a:solidFill>
                <a:latin typeface="Calibri" pitchFamily="34" charset="0"/>
                <a:ea typeface="Calibri" pitchFamily="34" charset="-122"/>
                <a:cs typeface="Calibri" pitchFamily="34" charset="-120"/>
              </a:rPr>
              <a:t>Toutes les contreparties du principal</a:t>
            </a:r>
            <a:endParaRPr lang="en-US" sz="1100" dirty="0"/>
          </a:p>
        </p:txBody>
      </p:sp>
      <p:sp>
        <p:nvSpPr>
          <p:cNvPr id="25" name="Text 23"/>
          <p:cNvSpPr txBox="1"/>
          <p:nvPr/>
        </p:nvSpPr>
        <p:spPr>
          <a:xfrm>
            <a:off x="685800" y="5623560"/>
            <a:ext cx="10820095" cy="329184"/>
          </a:xfrm>
          <a:prstGeom prst="rect">
            <a:avLst/>
          </a:prstGeom>
          <a:noFill/>
          <a:ln/>
        </p:spPr>
        <p:txBody>
          <a:bodyPr wrap="square" lIns="0" tIns="0" rIns="0" bIns="0" rtlCol="0" anchor="ctr"/>
          <a:lstStyle/>
          <a:p>
            <a:pPr indent="0" marL="0">
              <a:buNone/>
            </a:pPr>
            <a:r>
              <a:rPr lang="en-US" sz="1200" i="1" dirty="0">
                <a:solidFill>
                  <a:srgbClr val="7C7469"/>
                </a:solidFill>
                <a:latin typeface="Calibri" pitchFamily="34" charset="0"/>
                <a:ea typeface="Calibri" pitchFamily="34" charset="-122"/>
                <a:cs typeface="Calibri" pitchFamily="34" charset="-120"/>
              </a:rPr>
              <a:t>Tous les partenaires figurent dans les crédits du documentaire et sont associés aux communications liées à la diffusion.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9144000" cy="256032"/>
          </a:xfrm>
          <a:prstGeom prst="rect">
            <a:avLst/>
          </a:prstGeom>
          <a:noFill/>
          <a:ln/>
        </p:spPr>
        <p:txBody>
          <a:bodyPr wrap="square" lIns="0" tIns="0" rIns="0" bIns="0" rtlCol="0" anchor="ctr"/>
          <a:lstStyle/>
          <a:p>
            <a:pPr indent="0" marL="0">
              <a:buNone/>
            </a:pPr>
            <a:r>
              <a:rPr lang="en-US" sz="1150" b="1" spc="240" kern="0" dirty="0">
                <a:solidFill>
                  <a:srgbClr val="B8860B"/>
                </a:solidFill>
                <a:latin typeface="Calibri" pitchFamily="34" charset="0"/>
                <a:ea typeface="Calibri" pitchFamily="34" charset="-122"/>
                <a:cs typeface="Calibri" pitchFamily="34" charset="-120"/>
              </a:rPr>
              <a:t>ÉQUIPE</a:t>
            </a:r>
            <a:endParaRPr lang="en-US" sz="1150" dirty="0"/>
          </a:p>
        </p:txBody>
      </p:sp>
      <p:sp>
        <p:nvSpPr>
          <p:cNvPr id="3" name="Text 1"/>
          <p:cNvSpPr txBox="1"/>
          <p:nvPr/>
        </p:nvSpPr>
        <p:spPr>
          <a:xfrm>
            <a:off x="685800" y="749808"/>
            <a:ext cx="10820095" cy="658368"/>
          </a:xfrm>
          <a:prstGeom prst="rect">
            <a:avLst/>
          </a:prstGeom>
          <a:noFill/>
          <a:ln/>
        </p:spPr>
        <p:txBody>
          <a:bodyPr wrap="square" lIns="0" tIns="0" rIns="0" bIns="0" rtlCol="0" anchor="ctr"/>
          <a:lstStyle/>
          <a:p>
            <a:pPr indent="0" marL="0">
              <a:buNone/>
            </a:pPr>
            <a:r>
              <a:rPr lang="en-US" sz="3800" b="1" dirty="0">
                <a:solidFill>
                  <a:srgbClr val="082F22"/>
                </a:solidFill>
                <a:latin typeface="Cambria" pitchFamily="34" charset="0"/>
                <a:ea typeface="Cambria" pitchFamily="34" charset="-122"/>
                <a:cs typeface="Cambria" pitchFamily="34" charset="-120"/>
              </a:rPr>
              <a:t>Qui porte le projet</a:t>
            </a:r>
            <a:endParaRPr lang="en-US" sz="3800" dirty="0"/>
          </a:p>
        </p:txBody>
      </p:sp>
      <p:sp>
        <p:nvSpPr>
          <p:cNvPr id="4" name="Shape 2"/>
          <p:cNvSpPr/>
          <p:nvPr/>
        </p:nvSpPr>
        <p:spPr>
          <a:xfrm>
            <a:off x="685800" y="2011680"/>
            <a:ext cx="2615184" cy="3291840"/>
          </a:xfrm>
          <a:prstGeom prst="roundRect">
            <a:avLst>
              <a:gd name="adj" fmla="val 2098"/>
            </a:avLst>
          </a:prstGeom>
          <a:solidFill>
            <a:srgbClr val="F3EDE0"/>
          </a:solidFill>
          <a:ln w="12700">
            <a:solidFill>
              <a:srgbClr val="E6DCC4"/>
            </a:solidFill>
            <a:prstDash val="solid"/>
          </a:ln>
        </p:spPr>
      </p:sp>
      <p:sp>
        <p:nvSpPr>
          <p:cNvPr id="5" name="Shape 3"/>
          <p:cNvSpPr/>
          <p:nvPr/>
        </p:nvSpPr>
        <p:spPr>
          <a:xfrm>
            <a:off x="1581912" y="2331720"/>
            <a:ext cx="822960" cy="822960"/>
          </a:xfrm>
          <a:prstGeom prst="ellipse">
            <a:avLst/>
          </a:prstGeom>
          <a:solidFill>
            <a:srgbClr val="082F22"/>
          </a:solidFill>
          <a:ln w="15875">
            <a:solidFill>
              <a:srgbClr val="B8860B"/>
            </a:solidFill>
            <a:prstDash val="solid"/>
          </a:ln>
        </p:spPr>
      </p:sp>
      <p:sp>
        <p:nvSpPr>
          <p:cNvPr id="6" name="Text 4"/>
          <p:cNvSpPr txBox="1"/>
          <p:nvPr/>
        </p:nvSpPr>
        <p:spPr>
          <a:xfrm>
            <a:off x="1581912"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BG</a:t>
            </a:r>
            <a:endParaRPr lang="en-US" sz="2000" dirty="0"/>
          </a:p>
        </p:txBody>
      </p:sp>
      <p:sp>
        <p:nvSpPr>
          <p:cNvPr id="7" name="Text 5"/>
          <p:cNvSpPr txBox="1"/>
          <p:nvPr/>
        </p:nvSpPr>
        <p:spPr>
          <a:xfrm>
            <a:off x="868680"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Birima Gueye</a:t>
            </a:r>
            <a:endParaRPr lang="en-US" sz="1600" dirty="0"/>
          </a:p>
        </p:txBody>
      </p:sp>
      <p:sp>
        <p:nvSpPr>
          <p:cNvPr id="8" name="Text 6"/>
          <p:cNvSpPr txBox="1"/>
          <p:nvPr/>
        </p:nvSpPr>
        <p:spPr>
          <a:xfrm>
            <a:off x="832104"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PORTEUR DU PROJET</a:t>
            </a:r>
            <a:endParaRPr lang="en-US" sz="950" dirty="0"/>
          </a:p>
        </p:txBody>
      </p:sp>
      <p:sp>
        <p:nvSpPr>
          <p:cNvPr id="9" name="Text 7"/>
          <p:cNvSpPr txBox="1"/>
          <p:nvPr/>
        </p:nvSpPr>
        <p:spPr>
          <a:xfrm>
            <a:off x="868680"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Coordination générale, relations avec les intervenants et avec les partenaires.</a:t>
            </a:r>
            <a:endParaRPr lang="en-US" sz="1150" dirty="0"/>
          </a:p>
        </p:txBody>
      </p:sp>
      <p:sp>
        <p:nvSpPr>
          <p:cNvPr id="10" name="Shape 8"/>
          <p:cNvSpPr/>
          <p:nvPr/>
        </p:nvSpPr>
        <p:spPr>
          <a:xfrm>
            <a:off x="3557016" y="2011680"/>
            <a:ext cx="2615184" cy="3291840"/>
          </a:xfrm>
          <a:prstGeom prst="roundRect">
            <a:avLst>
              <a:gd name="adj" fmla="val 2098"/>
            </a:avLst>
          </a:prstGeom>
          <a:solidFill>
            <a:srgbClr val="F3EDE0"/>
          </a:solidFill>
          <a:ln w="12700">
            <a:solidFill>
              <a:srgbClr val="E6DCC4"/>
            </a:solidFill>
            <a:prstDash val="solid"/>
          </a:ln>
        </p:spPr>
      </p:sp>
      <p:sp>
        <p:nvSpPr>
          <p:cNvPr id="11" name="Shape 9"/>
          <p:cNvSpPr/>
          <p:nvPr/>
        </p:nvSpPr>
        <p:spPr>
          <a:xfrm>
            <a:off x="4453128" y="2331720"/>
            <a:ext cx="822960" cy="822960"/>
          </a:xfrm>
          <a:prstGeom prst="ellipse">
            <a:avLst/>
          </a:prstGeom>
          <a:solidFill>
            <a:srgbClr val="082F22"/>
          </a:solidFill>
          <a:ln w="15875">
            <a:solidFill>
              <a:srgbClr val="B8860B"/>
            </a:solidFill>
            <a:prstDash val="solid"/>
          </a:ln>
        </p:spPr>
      </p:sp>
      <p:sp>
        <p:nvSpPr>
          <p:cNvPr id="12" name="Text 10"/>
          <p:cNvSpPr txBox="1"/>
          <p:nvPr/>
        </p:nvSpPr>
        <p:spPr>
          <a:xfrm>
            <a:off x="4453128"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KF</a:t>
            </a:r>
            <a:endParaRPr lang="en-US" sz="2000" dirty="0"/>
          </a:p>
        </p:txBody>
      </p:sp>
      <p:sp>
        <p:nvSpPr>
          <p:cNvPr id="13" name="Text 11"/>
          <p:cNvSpPr txBox="1"/>
          <p:nvPr/>
        </p:nvSpPr>
        <p:spPr>
          <a:xfrm>
            <a:off x="3739896"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Khadim Fall</a:t>
            </a:r>
            <a:endParaRPr lang="en-US" sz="1600" dirty="0"/>
          </a:p>
        </p:txBody>
      </p:sp>
      <p:sp>
        <p:nvSpPr>
          <p:cNvPr id="14" name="Text 12"/>
          <p:cNvSpPr txBox="1"/>
          <p:nvPr/>
        </p:nvSpPr>
        <p:spPr>
          <a:xfrm>
            <a:off x="3703320"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RÉALISATION &amp; PRODUCTION TECHNIQUE</a:t>
            </a:r>
            <a:endParaRPr lang="en-US" sz="950" dirty="0"/>
          </a:p>
        </p:txBody>
      </p:sp>
      <p:sp>
        <p:nvSpPr>
          <p:cNvPr id="15" name="Text 13"/>
          <p:cNvSpPr txBox="1"/>
          <p:nvPr/>
        </p:nvSpPr>
        <p:spPr>
          <a:xfrm>
            <a:off x="3739896"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Direction artistique, supervision du tournage et de la postproduction.</a:t>
            </a:r>
            <a:endParaRPr lang="en-US" sz="1150" dirty="0"/>
          </a:p>
        </p:txBody>
      </p:sp>
      <p:sp>
        <p:nvSpPr>
          <p:cNvPr id="16" name="Shape 14"/>
          <p:cNvSpPr/>
          <p:nvPr/>
        </p:nvSpPr>
        <p:spPr>
          <a:xfrm>
            <a:off x="6428232" y="2011680"/>
            <a:ext cx="2615184" cy="3291840"/>
          </a:xfrm>
          <a:prstGeom prst="roundRect">
            <a:avLst>
              <a:gd name="adj" fmla="val 2098"/>
            </a:avLst>
          </a:prstGeom>
          <a:solidFill>
            <a:srgbClr val="F3EDE0"/>
          </a:solidFill>
          <a:ln w="12700">
            <a:solidFill>
              <a:srgbClr val="E6DCC4"/>
            </a:solidFill>
            <a:prstDash val="solid"/>
          </a:ln>
        </p:spPr>
      </p:sp>
      <p:sp>
        <p:nvSpPr>
          <p:cNvPr id="17" name="Shape 15"/>
          <p:cNvSpPr/>
          <p:nvPr/>
        </p:nvSpPr>
        <p:spPr>
          <a:xfrm>
            <a:off x="7324344" y="2331720"/>
            <a:ext cx="822960" cy="822960"/>
          </a:xfrm>
          <a:prstGeom prst="ellipse">
            <a:avLst/>
          </a:prstGeom>
          <a:solidFill>
            <a:srgbClr val="082F22"/>
          </a:solidFill>
          <a:ln w="15875">
            <a:solidFill>
              <a:srgbClr val="B8860B"/>
            </a:solidFill>
            <a:prstDash val="solid"/>
          </a:ln>
        </p:spPr>
      </p:sp>
      <p:sp>
        <p:nvSpPr>
          <p:cNvPr id="18" name="Text 16"/>
          <p:cNvSpPr txBox="1"/>
          <p:nvPr/>
        </p:nvSpPr>
        <p:spPr>
          <a:xfrm>
            <a:off x="7324344"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CS</a:t>
            </a:r>
            <a:endParaRPr lang="en-US" sz="2000" dirty="0"/>
          </a:p>
        </p:txBody>
      </p:sp>
      <p:sp>
        <p:nvSpPr>
          <p:cNvPr id="19" name="Text 17"/>
          <p:cNvSpPr txBox="1"/>
          <p:nvPr/>
        </p:nvSpPr>
        <p:spPr>
          <a:xfrm>
            <a:off x="6611112"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Cosmos Studio</a:t>
            </a:r>
            <a:endParaRPr lang="en-US" sz="1600" dirty="0"/>
          </a:p>
        </p:txBody>
      </p:sp>
      <p:sp>
        <p:nvSpPr>
          <p:cNvPr id="20" name="Text 18"/>
          <p:cNvSpPr txBox="1"/>
          <p:nvPr/>
        </p:nvSpPr>
        <p:spPr>
          <a:xfrm>
            <a:off x="6574536"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STRUCTURE DE PRODUCTION</a:t>
            </a:r>
            <a:endParaRPr lang="en-US" sz="950" dirty="0"/>
          </a:p>
        </p:txBody>
      </p:sp>
      <p:sp>
        <p:nvSpPr>
          <p:cNvPr id="21" name="Text 19"/>
          <p:cNvSpPr txBox="1"/>
          <p:nvPr/>
        </p:nvSpPr>
        <p:spPr>
          <a:xfrm>
            <a:off x="6611112"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Support technique, logistique et coordination de la postproduction.</a:t>
            </a:r>
            <a:endParaRPr lang="en-US" sz="1150" dirty="0"/>
          </a:p>
        </p:txBody>
      </p:sp>
      <p:sp>
        <p:nvSpPr>
          <p:cNvPr id="22" name="Shape 20"/>
          <p:cNvSpPr/>
          <p:nvPr/>
        </p:nvSpPr>
        <p:spPr>
          <a:xfrm>
            <a:off x="9299448" y="2011680"/>
            <a:ext cx="2615184" cy="3291840"/>
          </a:xfrm>
          <a:prstGeom prst="roundRect">
            <a:avLst>
              <a:gd name="adj" fmla="val 2098"/>
            </a:avLst>
          </a:prstGeom>
          <a:solidFill>
            <a:srgbClr val="F3EDE0"/>
          </a:solidFill>
          <a:ln w="12700">
            <a:solidFill>
              <a:srgbClr val="E6DCC4"/>
            </a:solidFill>
            <a:prstDash val="solid"/>
          </a:ln>
        </p:spPr>
      </p:sp>
      <p:sp>
        <p:nvSpPr>
          <p:cNvPr id="23" name="Shape 21"/>
          <p:cNvSpPr/>
          <p:nvPr/>
        </p:nvSpPr>
        <p:spPr>
          <a:xfrm>
            <a:off x="10195560" y="2331720"/>
            <a:ext cx="822960" cy="822960"/>
          </a:xfrm>
          <a:prstGeom prst="ellipse">
            <a:avLst/>
          </a:prstGeom>
          <a:solidFill>
            <a:srgbClr val="082F22"/>
          </a:solidFill>
          <a:ln w="15875">
            <a:solidFill>
              <a:srgbClr val="B8860B"/>
            </a:solidFill>
            <a:prstDash val="solid"/>
          </a:ln>
        </p:spPr>
      </p:sp>
      <p:sp>
        <p:nvSpPr>
          <p:cNvPr id="24" name="Text 22"/>
          <p:cNvSpPr txBox="1"/>
          <p:nvPr/>
        </p:nvSpPr>
        <p:spPr>
          <a:xfrm>
            <a:off x="10195560" y="2331720"/>
            <a:ext cx="822960" cy="822960"/>
          </a:xfrm>
          <a:prstGeom prst="rect">
            <a:avLst/>
          </a:prstGeom>
          <a:noFill/>
          <a:ln/>
        </p:spPr>
        <p:txBody>
          <a:bodyPr wrap="square" lIns="0" tIns="0" rIns="0" bIns="0" rtlCol="0" anchor="ctr"/>
          <a:lstStyle/>
          <a:p>
            <a:pPr algn="ctr" indent="0" marL="0">
              <a:buNone/>
            </a:pPr>
            <a:r>
              <a:rPr lang="en-US" sz="2000" b="1" dirty="0">
                <a:solidFill>
                  <a:srgbClr val="D4AF37"/>
                </a:solidFill>
                <a:latin typeface="Cambria" pitchFamily="34" charset="0"/>
                <a:ea typeface="Cambria" pitchFamily="34" charset="-122"/>
                <a:cs typeface="Cambria" pitchFamily="34" charset="-120"/>
              </a:rPr>
              <a:t>+</a:t>
            </a:r>
            <a:endParaRPr lang="en-US" sz="2000" dirty="0"/>
          </a:p>
        </p:txBody>
      </p:sp>
      <p:sp>
        <p:nvSpPr>
          <p:cNvPr id="25" name="Text 23"/>
          <p:cNvSpPr txBox="1"/>
          <p:nvPr/>
        </p:nvSpPr>
        <p:spPr>
          <a:xfrm>
            <a:off x="9482328" y="3291840"/>
            <a:ext cx="2249424" cy="329184"/>
          </a:xfrm>
          <a:prstGeom prst="rect">
            <a:avLst/>
          </a:prstGeom>
          <a:noFill/>
          <a:ln/>
        </p:spPr>
        <p:txBody>
          <a:bodyPr wrap="square" lIns="0" tIns="0" rIns="0" bIns="0" rtlCol="0" anchor="ctr"/>
          <a:lstStyle/>
          <a:p>
            <a:pPr algn="ctr" indent="0" marL="0">
              <a:buNone/>
            </a:pPr>
            <a:r>
              <a:rPr lang="en-US" sz="1600" b="1" dirty="0">
                <a:solidFill>
                  <a:srgbClr val="082F22"/>
                </a:solidFill>
                <a:latin typeface="Cambria" pitchFamily="34" charset="0"/>
                <a:ea typeface="Cambria" pitchFamily="34" charset="-122"/>
                <a:cs typeface="Cambria" pitchFamily="34" charset="-120"/>
              </a:rPr>
              <a:t>Collaborateurs</a:t>
            </a:r>
            <a:endParaRPr lang="en-US" sz="1600" dirty="0"/>
          </a:p>
        </p:txBody>
      </p:sp>
      <p:sp>
        <p:nvSpPr>
          <p:cNvPr id="26" name="Text 24"/>
          <p:cNvSpPr txBox="1"/>
          <p:nvPr/>
        </p:nvSpPr>
        <p:spPr>
          <a:xfrm>
            <a:off x="9445752" y="3639312"/>
            <a:ext cx="2322576" cy="420624"/>
          </a:xfrm>
          <a:prstGeom prst="rect">
            <a:avLst/>
          </a:prstGeom>
          <a:noFill/>
          <a:ln/>
        </p:spPr>
        <p:txBody>
          <a:bodyPr wrap="square" lIns="0" tIns="0" rIns="0" bIns="0" rtlCol="0" anchor="t"/>
          <a:lstStyle/>
          <a:p>
            <a:pPr algn="ctr" indent="0" marL="0">
              <a:buNone/>
            </a:pPr>
            <a:r>
              <a:rPr lang="en-US" sz="950" b="1" spc="80" kern="0" dirty="0">
                <a:solidFill>
                  <a:srgbClr val="B8860B"/>
                </a:solidFill>
                <a:latin typeface="Calibri" pitchFamily="34" charset="0"/>
                <a:ea typeface="Calibri" pitchFamily="34" charset="-122"/>
                <a:cs typeface="Calibri" pitchFamily="34" charset="-120"/>
              </a:rPr>
              <a:t>SELON LES BESOINS</a:t>
            </a:r>
            <a:endParaRPr lang="en-US" sz="950" dirty="0"/>
          </a:p>
        </p:txBody>
      </p:sp>
      <p:sp>
        <p:nvSpPr>
          <p:cNvPr id="27" name="Text 25"/>
          <p:cNvSpPr txBox="1"/>
          <p:nvPr/>
        </p:nvSpPr>
        <p:spPr>
          <a:xfrm>
            <a:off x="9482328" y="4114800"/>
            <a:ext cx="2249424" cy="1005840"/>
          </a:xfrm>
          <a:prstGeom prst="rect">
            <a:avLst/>
          </a:prstGeom>
          <a:noFill/>
          <a:ln/>
        </p:spPr>
        <p:txBody>
          <a:bodyPr wrap="square" lIns="0" tIns="0" rIns="0" bIns="0" rtlCol="0" anchor="t"/>
          <a:lstStyle/>
          <a:p>
            <a:pPr algn="ctr" indent="0" marL="0">
              <a:lnSpc>
                <a:spcPct val="116000"/>
              </a:lnSpc>
              <a:buNone/>
            </a:pPr>
            <a:r>
              <a:rPr lang="en-US" sz="1150" dirty="0">
                <a:solidFill>
                  <a:srgbClr val="4A443C"/>
                </a:solidFill>
                <a:latin typeface="Calibri" pitchFamily="34" charset="0"/>
                <a:ea typeface="Calibri" pitchFamily="34" charset="-122"/>
                <a:cs typeface="Calibri" pitchFamily="34" charset="-120"/>
              </a:rPr>
              <a:t>Renforts identifiés phase par phase : son, lumière, montage, graphisme.</a:t>
            </a:r>
            <a:endParaRPr lang="en-US" sz="1150" dirty="0"/>
          </a:p>
        </p:txBody>
      </p:sp>
      <p:sp>
        <p:nvSpPr>
          <p:cNvPr id="28" name="Text 26"/>
          <p:cNvSpPr txBox="1"/>
          <p:nvPr/>
        </p:nvSpPr>
        <p:spPr>
          <a:xfrm>
            <a:off x="685800" y="5532120"/>
            <a:ext cx="10820095" cy="329184"/>
          </a:xfrm>
          <a:prstGeom prst="rect">
            <a:avLst/>
          </a:prstGeom>
          <a:noFill/>
          <a:ln/>
        </p:spPr>
        <p:txBody>
          <a:bodyPr wrap="square" lIns="0" tIns="0" rIns="0" bIns="0" rtlCol="0" anchor="ctr"/>
          <a:lstStyle/>
          <a:p>
            <a:pPr indent="0" marL="0">
              <a:buNone/>
            </a:pPr>
            <a:r>
              <a:rPr lang="en-US" sz="1200" i="1" dirty="0">
                <a:solidFill>
                  <a:srgbClr val="7C7469"/>
                </a:solidFill>
                <a:latin typeface="Calibri" pitchFamily="34" charset="0"/>
                <a:ea typeface="Calibri" pitchFamily="34" charset="-122"/>
                <a:cs typeface="Calibri" pitchFamily="34" charset="-120"/>
              </a:rPr>
              <a:t>Khadim Fall assure la réalisation et la responsabilité de la production technique, en coordination étroite avec le porteur du projet.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82F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737360" cy="1737360"/>
          </a:xfrm>
          <a:prstGeom prst="rect">
            <a:avLst/>
          </a:prstGeom>
        </p:spPr>
      </p:pic>
      <p:sp>
        <p:nvSpPr>
          <p:cNvPr id="3" name="Text 0"/>
          <p:cNvSpPr txBox="1"/>
          <p:nvPr/>
        </p:nvSpPr>
        <p:spPr>
          <a:xfrm>
            <a:off x="685800" y="3017520"/>
            <a:ext cx="5029200" cy="256032"/>
          </a:xfrm>
          <a:prstGeom prst="rect">
            <a:avLst/>
          </a:prstGeom>
          <a:noFill/>
          <a:ln/>
        </p:spPr>
        <p:txBody>
          <a:bodyPr wrap="square" lIns="0" tIns="0" rIns="0" bIns="0" rtlCol="0" anchor="ctr"/>
          <a:lstStyle/>
          <a:p>
            <a:pPr indent="0" marL="0">
              <a:buNone/>
            </a:pPr>
            <a:r>
              <a:rPr lang="en-US" sz="1150" b="1" spc="240" kern="0" dirty="0">
                <a:solidFill>
                  <a:srgbClr val="D4AF37"/>
                </a:solidFill>
                <a:latin typeface="Calibri" pitchFamily="34" charset="0"/>
                <a:ea typeface="Calibri" pitchFamily="34" charset="-122"/>
                <a:cs typeface="Calibri" pitchFamily="34" charset="-120"/>
              </a:rPr>
              <a:t>NOUS CONTACTER</a:t>
            </a:r>
            <a:endParaRPr lang="en-US" sz="1150" dirty="0"/>
          </a:p>
        </p:txBody>
      </p:sp>
      <p:sp>
        <p:nvSpPr>
          <p:cNvPr id="4" name="Text 1"/>
          <p:cNvSpPr txBox="1"/>
          <p:nvPr/>
        </p:nvSpPr>
        <p:spPr>
          <a:xfrm>
            <a:off x="685800" y="3310128"/>
            <a:ext cx="512064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Associez-vous au projet</a:t>
            </a:r>
            <a:endParaRPr lang="en-US" sz="4000" dirty="0"/>
          </a:p>
        </p:txBody>
      </p:sp>
      <p:sp>
        <p:nvSpPr>
          <p:cNvPr id="5" name="Text 2"/>
          <p:cNvSpPr txBox="1"/>
          <p:nvPr/>
        </p:nvSpPr>
        <p:spPr>
          <a:xfrm>
            <a:off x="685800" y="4617720"/>
            <a:ext cx="4937760" cy="731520"/>
          </a:xfrm>
          <a:prstGeom prst="rect">
            <a:avLst/>
          </a:prstGeom>
          <a:noFill/>
          <a:ln/>
        </p:spPr>
        <p:txBody>
          <a:bodyPr wrap="square" lIns="0" tIns="0" rIns="0" bIns="0" rtlCol="0" anchor="ctr"/>
          <a:lstStyle/>
          <a:p>
            <a:pPr indent="0" marL="0">
              <a:lnSpc>
                <a:spcPct val="125000"/>
              </a:lnSpc>
              <a:buNone/>
            </a:pPr>
            <a:r>
              <a:rPr lang="en-US" sz="1350" dirty="0">
                <a:solidFill>
                  <a:srgbClr val="CFE0D4"/>
                </a:solidFill>
                <a:latin typeface="Calibri" pitchFamily="34" charset="0"/>
                <a:ea typeface="Calibri" pitchFamily="34" charset="-122"/>
                <a:cs typeface="Calibri" pitchFamily="34" charset="-120"/>
              </a:rPr>
              <a:t>Sa réalisation nécessite l'accompagnement de partenaires pour couvrir les coûts de production et de déplacement.</a:t>
            </a:r>
            <a:endParaRPr lang="en-US" sz="1350" dirty="0"/>
          </a:p>
        </p:txBody>
      </p:sp>
      <p:sp>
        <p:nvSpPr>
          <p:cNvPr id="6" name="Shape 3"/>
          <p:cNvSpPr/>
          <p:nvPr/>
        </p:nvSpPr>
        <p:spPr>
          <a:xfrm>
            <a:off x="6126480" y="2148840"/>
            <a:ext cx="2834640" cy="1371600"/>
          </a:xfrm>
          <a:prstGeom prst="roundRect">
            <a:avLst>
              <a:gd name="adj" fmla="val 5333"/>
            </a:avLst>
          </a:prstGeom>
          <a:solidFill>
            <a:srgbClr val="0C2B1E"/>
          </a:solidFill>
          <a:ln w="12700">
            <a:solidFill>
              <a:srgbClr val="3E5A48"/>
            </a:solidFill>
            <a:prstDash val="solid"/>
          </a:ln>
        </p:spPr>
      </p:sp>
      <p:sp>
        <p:nvSpPr>
          <p:cNvPr id="7" name="Text 4"/>
          <p:cNvSpPr txBox="1"/>
          <p:nvPr/>
        </p:nvSpPr>
        <p:spPr>
          <a:xfrm>
            <a:off x="6345936" y="2331720"/>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Birima Gueye</a:t>
            </a:r>
            <a:endParaRPr lang="en-US" sz="1600" dirty="0"/>
          </a:p>
        </p:txBody>
      </p:sp>
      <p:sp>
        <p:nvSpPr>
          <p:cNvPr id="8" name="Text 5"/>
          <p:cNvSpPr txBox="1"/>
          <p:nvPr/>
        </p:nvSpPr>
        <p:spPr>
          <a:xfrm>
            <a:off x="6345936" y="2660904"/>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Porteur du projet</a:t>
            </a:r>
            <a:endParaRPr lang="en-US" sz="1050" dirty="0"/>
          </a:p>
        </p:txBody>
      </p:sp>
      <p:sp>
        <p:nvSpPr>
          <p:cNvPr id="9" name="Text 6"/>
          <p:cNvSpPr txBox="1"/>
          <p:nvPr/>
        </p:nvSpPr>
        <p:spPr>
          <a:xfrm>
            <a:off x="6345936" y="3081528"/>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78 017 84 44</a:t>
            </a:r>
            <a:endParaRPr lang="en-US" sz="1250" dirty="0"/>
          </a:p>
        </p:txBody>
      </p:sp>
      <p:sp>
        <p:nvSpPr>
          <p:cNvPr id="10" name="Shape 7"/>
          <p:cNvSpPr/>
          <p:nvPr/>
        </p:nvSpPr>
        <p:spPr>
          <a:xfrm>
            <a:off x="9235440" y="2148840"/>
            <a:ext cx="2834640" cy="1371600"/>
          </a:xfrm>
          <a:prstGeom prst="roundRect">
            <a:avLst>
              <a:gd name="adj" fmla="val 5333"/>
            </a:avLst>
          </a:prstGeom>
          <a:solidFill>
            <a:srgbClr val="0C2B1E"/>
          </a:solidFill>
          <a:ln w="12700">
            <a:solidFill>
              <a:srgbClr val="3E5A48"/>
            </a:solidFill>
            <a:prstDash val="solid"/>
          </a:ln>
        </p:spPr>
      </p:sp>
      <p:sp>
        <p:nvSpPr>
          <p:cNvPr id="11" name="Text 8"/>
          <p:cNvSpPr txBox="1"/>
          <p:nvPr/>
        </p:nvSpPr>
        <p:spPr>
          <a:xfrm>
            <a:off x="9454896" y="2331720"/>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Khadim Fall</a:t>
            </a:r>
            <a:endParaRPr lang="en-US" sz="1600" dirty="0"/>
          </a:p>
        </p:txBody>
      </p:sp>
      <p:sp>
        <p:nvSpPr>
          <p:cNvPr id="12" name="Text 9"/>
          <p:cNvSpPr txBox="1"/>
          <p:nvPr/>
        </p:nvSpPr>
        <p:spPr>
          <a:xfrm>
            <a:off x="9454896" y="2660904"/>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Réalisation &amp; production technique</a:t>
            </a:r>
            <a:endParaRPr lang="en-US" sz="1050" dirty="0"/>
          </a:p>
        </p:txBody>
      </p:sp>
      <p:sp>
        <p:nvSpPr>
          <p:cNvPr id="13" name="Text 10"/>
          <p:cNvSpPr txBox="1"/>
          <p:nvPr/>
        </p:nvSpPr>
        <p:spPr>
          <a:xfrm>
            <a:off x="9454896" y="3081528"/>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76 885 15 23</a:t>
            </a:r>
            <a:endParaRPr lang="en-US" sz="1250" dirty="0"/>
          </a:p>
        </p:txBody>
      </p:sp>
      <p:sp>
        <p:nvSpPr>
          <p:cNvPr id="14" name="Shape 11"/>
          <p:cNvSpPr/>
          <p:nvPr/>
        </p:nvSpPr>
        <p:spPr>
          <a:xfrm>
            <a:off x="6126480" y="3776472"/>
            <a:ext cx="2834640" cy="1371600"/>
          </a:xfrm>
          <a:prstGeom prst="roundRect">
            <a:avLst>
              <a:gd name="adj" fmla="val 5333"/>
            </a:avLst>
          </a:prstGeom>
          <a:solidFill>
            <a:srgbClr val="0C2B1E"/>
          </a:solidFill>
          <a:ln w="12700">
            <a:solidFill>
              <a:srgbClr val="3E5A48"/>
            </a:solidFill>
            <a:prstDash val="solid"/>
          </a:ln>
        </p:spPr>
      </p:sp>
      <p:sp>
        <p:nvSpPr>
          <p:cNvPr id="15" name="Text 12"/>
          <p:cNvSpPr txBox="1"/>
          <p:nvPr/>
        </p:nvSpPr>
        <p:spPr>
          <a:xfrm>
            <a:off x="6345936" y="3959352"/>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Cosmos Studio</a:t>
            </a:r>
            <a:endParaRPr lang="en-US" sz="1600" dirty="0"/>
          </a:p>
        </p:txBody>
      </p:sp>
      <p:sp>
        <p:nvSpPr>
          <p:cNvPr id="16" name="Text 13"/>
          <p:cNvSpPr txBox="1"/>
          <p:nvPr/>
        </p:nvSpPr>
        <p:spPr>
          <a:xfrm>
            <a:off x="6345936" y="4288536"/>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Structure de production</a:t>
            </a:r>
            <a:endParaRPr lang="en-US" sz="1050" dirty="0"/>
          </a:p>
        </p:txBody>
      </p:sp>
      <p:sp>
        <p:nvSpPr>
          <p:cNvPr id="17" name="Text 14"/>
          <p:cNvSpPr txBox="1"/>
          <p:nvPr/>
        </p:nvSpPr>
        <p:spPr>
          <a:xfrm>
            <a:off x="6345936" y="4709160"/>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Réalisation technique et postproduction</a:t>
            </a:r>
            <a:endParaRPr lang="en-US" sz="1250" dirty="0"/>
          </a:p>
        </p:txBody>
      </p:sp>
      <p:sp>
        <p:nvSpPr>
          <p:cNvPr id="18" name="Shape 15"/>
          <p:cNvSpPr/>
          <p:nvPr/>
        </p:nvSpPr>
        <p:spPr>
          <a:xfrm>
            <a:off x="9235440" y="3776472"/>
            <a:ext cx="2834640" cy="1371600"/>
          </a:xfrm>
          <a:prstGeom prst="roundRect">
            <a:avLst>
              <a:gd name="adj" fmla="val 5333"/>
            </a:avLst>
          </a:prstGeom>
          <a:solidFill>
            <a:srgbClr val="0C2B1E"/>
          </a:solidFill>
          <a:ln w="12700">
            <a:solidFill>
              <a:srgbClr val="3E5A48"/>
            </a:solidFill>
            <a:prstDash val="solid"/>
          </a:ln>
        </p:spPr>
      </p:sp>
      <p:sp>
        <p:nvSpPr>
          <p:cNvPr id="19" name="Text 16"/>
          <p:cNvSpPr txBox="1"/>
          <p:nvPr/>
        </p:nvSpPr>
        <p:spPr>
          <a:xfrm>
            <a:off x="9454896" y="3959352"/>
            <a:ext cx="2395728"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Dahira KSN</a:t>
            </a:r>
            <a:endParaRPr lang="en-US" sz="1600" dirty="0"/>
          </a:p>
        </p:txBody>
      </p:sp>
      <p:sp>
        <p:nvSpPr>
          <p:cNvPr id="20" name="Text 17"/>
          <p:cNvSpPr txBox="1"/>
          <p:nvPr/>
        </p:nvSpPr>
        <p:spPr>
          <a:xfrm>
            <a:off x="9454896" y="4288536"/>
            <a:ext cx="2395728" cy="384048"/>
          </a:xfrm>
          <a:prstGeom prst="rect">
            <a:avLst/>
          </a:prstGeom>
          <a:noFill/>
          <a:ln/>
        </p:spPr>
        <p:txBody>
          <a:bodyPr wrap="square" lIns="0" tIns="0" rIns="0" bIns="0" rtlCol="0" anchor="t"/>
          <a:lstStyle/>
          <a:p>
            <a:pPr indent="0" marL="0">
              <a:lnSpc>
                <a:spcPct val="110000"/>
              </a:lnSpc>
              <a:buNone/>
            </a:pPr>
            <a:r>
              <a:rPr lang="en-US" sz="1050" dirty="0">
                <a:solidFill>
                  <a:srgbClr val="E8D9A6"/>
                </a:solidFill>
                <a:latin typeface="Calibri" pitchFamily="34" charset="0"/>
                <a:ea typeface="Calibri" pitchFamily="34" charset="-122"/>
                <a:cs typeface="Calibri" pitchFamily="34" charset="-120"/>
              </a:rPr>
              <a:t>Kippaangog Salaatu ʿAlaa Nabii</a:t>
            </a:r>
            <a:endParaRPr lang="en-US" sz="1050" dirty="0"/>
          </a:p>
        </p:txBody>
      </p:sp>
      <p:sp>
        <p:nvSpPr>
          <p:cNvPr id="21" name="Text 18"/>
          <p:cNvSpPr txBox="1"/>
          <p:nvPr/>
        </p:nvSpPr>
        <p:spPr>
          <a:xfrm>
            <a:off x="9454896" y="4709160"/>
            <a:ext cx="2395728" cy="310896"/>
          </a:xfrm>
          <a:prstGeom prst="rect">
            <a:avLst/>
          </a:prstGeom>
          <a:noFill/>
          <a:ln/>
        </p:spPr>
        <p:txBody>
          <a:bodyPr wrap="square" lIns="0" tIns="0" rIns="0" bIns="0" rtlCol="0" anchor="ctr"/>
          <a:lstStyle/>
          <a:p>
            <a:pPr indent="0" marL="0">
              <a:buNone/>
            </a:pPr>
            <a:r>
              <a:rPr lang="en-US" sz="1250" b="1" dirty="0">
                <a:solidFill>
                  <a:srgbClr val="CFE0D4"/>
                </a:solidFill>
                <a:latin typeface="Calibri" pitchFamily="34" charset="0"/>
                <a:ea typeface="Calibri" pitchFamily="34" charset="-122"/>
                <a:cs typeface="Calibri" pitchFamily="34" charset="-120"/>
              </a:rPr>
              <a:t>Journée annuelle — Touba</a:t>
            </a:r>
            <a:endParaRPr lang="en-US" sz="1250" dirty="0"/>
          </a:p>
        </p:txBody>
      </p:sp>
      <p:sp>
        <p:nvSpPr>
          <p:cNvPr id="22" name="Text 19"/>
          <p:cNvSpPr txBox="1"/>
          <p:nvPr/>
        </p:nvSpPr>
        <p:spPr>
          <a:xfrm>
            <a:off x="685800" y="6144768"/>
            <a:ext cx="10820095" cy="292608"/>
          </a:xfrm>
          <a:prstGeom prst="rect">
            <a:avLst/>
          </a:prstGeom>
          <a:noFill/>
          <a:ln/>
        </p:spPr>
        <p:txBody>
          <a:bodyPr wrap="square" lIns="0" tIns="0" rIns="0" bIns="0" rtlCol="0" anchor="ctr"/>
          <a:lstStyle/>
          <a:p>
            <a:pPr indent="0" marL="0">
              <a:buNone/>
            </a:pPr>
            <a:r>
              <a:rPr lang="en-US" sz="1150" dirty="0">
                <a:solidFill>
                  <a:srgbClr val="7F9788"/>
                </a:solidFill>
                <a:latin typeface="Calibri" pitchFamily="34" charset="0"/>
                <a:ea typeface="Calibri" pitchFamily="34" charset="-122"/>
                <a:cs typeface="Calibri" pitchFamily="34" charset="-120"/>
              </a:rPr>
              <a:t>Budget bouclé avant le 30 septembre 2026 · Journée Salaatu ʿAlaa Nabii — 26 décembre 2026, Touba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Dahira Kippaangog Salaatu 'Alaa Nabii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Salaatu 'Alaa Nabii — Dossier de production</dc:title>
  <dc:subject>PptxGenJS Presentation</dc:subject>
  <dc:creator>Dahira KSN</dc:creator>
  <cp:lastModifiedBy>Dahira KSN</cp:lastModifiedBy>
  <cp:revision>1</cp:revision>
  <dcterms:created xsi:type="dcterms:W3CDTF">2026-08-28T18:22:23Z</dcterms:created>
  <dcterms:modified xsi:type="dcterms:W3CDTF">2026-08-28T18:22:23Z</dcterms:modified>
</cp:coreProperties>
</file>